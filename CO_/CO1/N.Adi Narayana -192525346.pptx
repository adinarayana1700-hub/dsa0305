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FSA is a simple machine that moves through states based on input, using very little memory. Tokens are the smallest meaningful pieces of code, like keywords or numbers. Recognizing them correctly lets a compiler work fast and accurately. We see similar step-by-step behaviour in ATMs, traffic signals, and login systems.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FSA has five parts: states that store progress, an alphabet of valid symbols, one start state, a transition function that reacts to input, and a final state reached only on success. The diagram shows four states connected by labelled arrows, ending in a double-circled accepting state.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Compilation starts with raw source code. The lexical analyzer scans it character by character, using a finite state automaton to test whether each sequence matches a valid pattern. Valid sequences become recognized tokens, which the parser then uses to check the program's grammar and structure.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automaton accepts identifiers: names used for variables and functions. It needs a letter to leave the start state, then loops on letters or digits. 'abc123' and 'student1' are accepted because they start with a letter. '123abc' is rejected because it starts with a digit.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FSAs are fast, efficient, simple to build, and use very little memory because they only track the current state. This makes them ideal for compiler design, syntax highlighting in editors, text editors, search engines, and general pattern matching tasks across software.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the finite state automaton is the core idea behind lexical analysis. It reliably recognizes valid tokens, helps compilers run faster, and the same state-and-transition concept appears in many real software tools beyond just compilers.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6.png"/><Relationship Id="rId7"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14.png"/><Relationship Id="rId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777240" y="1508760"/>
            <a:ext cx="9875520" cy="1920240"/>
          </a:xfrm>
          <a:prstGeom prst="rect">
            <a:avLst/>
          </a:prstGeom>
          <a:noFill/>
        </p:spPr>
        <p:txBody>
          <a:bodyPr wrap="square" lIns="0" tIns="0" rIns="0" bIns="0" rtlCol="0" anchor="ctr"/>
          <a:lstStyle/>
          <a:p>
            <a:pPr marL="0" indent="0">
              <a:lnSpc>
                <a:spcPct val="108000"/>
              </a:lnSpc>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Building a Finite State Automaton</a:t>
            </a:r>
            <a:endParaRPr lang="en-US" sz="4000" dirty="0"/>
          </a:p>
          <a:p>
            <a:pPr marL="0" indent="0">
              <a:lnSpc>
                <a:spcPct val="108000"/>
              </a:lnSpc>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for Token Recognition</a:t>
            </a:r>
            <a:endParaRPr lang="en-US" sz="4000" dirty="0"/>
          </a:p>
        </p:txBody>
      </p:sp>
      <p:sp>
        <p:nvSpPr>
          <p:cNvPr id="4" name="Text 2"/>
          <p:cNvSpPr/>
          <p:nvPr/>
        </p:nvSpPr>
        <p:spPr>
          <a:xfrm>
            <a:off x="822960" y="3429000"/>
            <a:ext cx="8686800" cy="457200"/>
          </a:xfrm>
          <a:prstGeom prst="rect">
            <a:avLst/>
          </a:prstGeom>
          <a:noFill/>
        </p:spPr>
        <p:txBody>
          <a:bodyPr wrap="square" lIns="0" tIns="0" rIns="0" bIns="0" rtlCol="0" anchor="ctr"/>
          <a:lstStyle/>
          <a:p>
            <a:pPr marL="0" indent="0">
              <a:buNone/>
            </a:pPr>
            <a:r>
              <a:rPr lang="en-US" sz="1600" i="1" dirty="0">
                <a:solidFill>
                  <a:srgbClr val="CADCFC"/>
                </a:solidFill>
                <a:latin typeface="Calibri" panose="020F0502020204030204" pitchFamily="34" charset="0"/>
                <a:ea typeface="Calibri" panose="020F0502020204030204" pitchFamily="34" charset="-122"/>
                <a:cs typeface="Calibri" panose="020F0502020204030204" pitchFamily="34" charset="-120"/>
              </a:rPr>
              <a:t>How compilers read code, one valid symbol at a time</a:t>
            </a:r>
            <a:endParaRPr lang="en-US" sz="1600" dirty="0"/>
          </a:p>
        </p:txBody>
      </p:sp>
      <p:sp>
        <p:nvSpPr>
          <p:cNvPr id="7" name="Shape 4"/>
          <p:cNvSpPr/>
          <p:nvPr/>
        </p:nvSpPr>
        <p:spPr>
          <a:xfrm>
            <a:off x="6456680" y="4512945"/>
            <a:ext cx="5120640" cy="914400"/>
          </a:xfrm>
          <a:prstGeom prst="roundRect">
            <a:avLst>
              <a:gd name="adj" fmla="val 12000"/>
            </a:avLst>
          </a:prstGeom>
          <a:solidFill>
            <a:srgbClr val="101A33">
              <a:alpha val="85000"/>
            </a:srgbClr>
          </a:solidFill>
          <a:ln w="12700">
            <a:solidFill>
              <a:srgbClr val="2F6FED"/>
            </a:solidFill>
            <a:prstDash val="solid"/>
          </a:ln>
        </p:spPr>
        <p:txBody>
          <a:bodyPr/>
          <a:lstStyle/>
          <a:p>
            <a:pPr marR="0" lvl="0" fontAlgn="base">
              <a:lnSpc>
                <a:spcPct val="90000"/>
              </a:lnSpc>
              <a:spcBef>
                <a:spcPts val="1000"/>
              </a:spcBef>
              <a:spcAft>
                <a:spcPct val="0"/>
              </a:spcAft>
              <a:buClrTx/>
              <a:buSzTx/>
            </a:pPr>
            <a:r>
              <a:rPr lang="en-US" sz="2400" b="1" dirty="0">
                <a:solidFill>
                  <a:schemeClr val="bg1"/>
                </a:solidFill>
                <a:latin typeface="Times New Roman" panose="02020603050405020304" pitchFamily="18" charset="0"/>
                <a:cs typeface="Times New Roman" panose="02020603050405020304" pitchFamily="18" charset="0"/>
                <a:sym typeface="+mn-ea"/>
              </a:rPr>
              <a:t>Presented By:</a:t>
            </a:r>
            <a:endParaRPr lang="en-US" sz="2400" dirty="0">
              <a:solidFill>
                <a:schemeClr val="bg1"/>
              </a:solidFill>
              <a:latin typeface="Times New Roman" panose="02020603050405020304" pitchFamily="18" charset="0"/>
              <a:cs typeface="Times New Roman" panose="02020603050405020304" pitchFamily="18" charset="0"/>
            </a:endParaRPr>
          </a:p>
          <a:p>
            <a:pPr marR="0" lvl="0" fontAlgn="base">
              <a:lnSpc>
                <a:spcPct val="90000"/>
              </a:lnSpc>
              <a:spcBef>
                <a:spcPts val="1000"/>
              </a:spcBef>
              <a:spcAft>
                <a:spcPct val="0"/>
              </a:spcAft>
              <a:buClrTx/>
              <a:buSzTx/>
            </a:pPr>
            <a:r>
              <a:rPr lang="en-US" sz="2400" dirty="0">
                <a:solidFill>
                  <a:schemeClr val="bg1"/>
                </a:solidFill>
                <a:latin typeface="Times New Roman" panose="02020603050405020304" pitchFamily="18" charset="0"/>
                <a:cs typeface="Times New Roman" panose="02020603050405020304" pitchFamily="18" charset="0"/>
                <a:sym typeface="+mn-ea"/>
              </a:rPr>
              <a:t>N . Adi Narayana(192525346)</a:t>
            </a:r>
          </a:p>
        </p:txBody>
      </p:sp>
      <p:sp>
        <p:nvSpPr>
          <p:cNvPr id="8" name="Text 5"/>
          <p:cNvSpPr/>
          <p:nvPr/>
        </p:nvSpPr>
        <p:spPr>
          <a:xfrm>
            <a:off x="617220" y="4587748"/>
            <a:ext cx="4663440" cy="365760"/>
          </a:xfrm>
          <a:prstGeom prst="rect">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txBody>
          <a:bodyPr wrap="square" lIns="0" tIns="0" rIns="0" bIns="0" rtlCol="0" anchor="ctr"/>
          <a:lstStyle/>
          <a:p>
            <a:pPr marL="0" indent="0">
              <a:buNone/>
            </a:pPr>
            <a:r>
              <a:rPr lang="en-US" sz="2400" b="1" dirty="0">
                <a:solidFill>
                  <a:srgbClr val="CADCFC"/>
                </a:solidFill>
                <a:latin typeface="Times New Roman" panose="02020603050405020304" pitchFamily="18" charset="0"/>
                <a:ea typeface="Calibri" panose="020F0502020204030204" pitchFamily="34" charset="-122"/>
                <a:cs typeface="Times New Roman" panose="02020603050405020304" pitchFamily="18" charset="0"/>
              </a:rPr>
              <a:t>Guided by:</a:t>
            </a:r>
          </a:p>
          <a:p>
            <a:pPr marL="0" indent="0">
              <a:buNone/>
            </a:pPr>
            <a:r>
              <a:rPr lang="en-US" sz="2400" dirty="0">
                <a:solidFill>
                  <a:schemeClr val="bg1"/>
                </a:solidFill>
                <a:latin typeface="Times New Roman" panose="02020603050405020304" pitchFamily="18" charset="0"/>
                <a:cs typeface="Times New Roman" panose="02020603050405020304" pitchFamily="18" charset="0"/>
              </a:rPr>
              <a:t>Anbanhagan K</a:t>
            </a:r>
          </a:p>
        </p:txBody>
      </p:sp>
      <p:sp>
        <p:nvSpPr>
          <p:cNvPr id="9" name="Text 6"/>
          <p:cNvSpPr/>
          <p:nvPr/>
        </p:nvSpPr>
        <p:spPr>
          <a:xfrm>
            <a:off x="457200" y="6510528"/>
            <a:ext cx="7315200" cy="274320"/>
          </a:xfrm>
          <a:prstGeom prst="rect">
            <a:avLst/>
          </a:prstGeom>
          <a:noFill/>
        </p:spPr>
        <p:txBody>
          <a:bodyPr wrap="square" lIns="0" tIns="0" rIns="0" bIns="0" rtlCol="0" anchor="ctr"/>
          <a:lstStyle/>
          <a:p>
            <a:pPr marL="0" indent="0" algn="l">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Building a Finite State Automaton for Token Recognition</a:t>
            </a:r>
            <a:endParaRPr lang="en-US" sz="900" dirty="0"/>
          </a:p>
        </p:txBody>
      </p:sp>
      <p:sp>
        <p:nvSpPr>
          <p:cNvPr id="10" name="Text 7"/>
          <p:cNvSpPr/>
          <p:nvPr/>
        </p:nvSpPr>
        <p:spPr>
          <a:xfrm>
            <a:off x="11247120" y="6510528"/>
            <a:ext cx="457200" cy="274320"/>
          </a:xfrm>
          <a:prstGeom prst="rect">
            <a:avLst/>
          </a:prstGeom>
          <a:noFill/>
        </p:spPr>
        <p:txBody>
          <a:bodyPr wrap="square" lIns="0" tIns="0" rIns="0" bIns="0" rtlCol="0" anchor="ctr"/>
          <a:lstStyle/>
          <a:p>
            <a:pPr marL="0" indent="0" algn="r">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1</a:t>
            </a:r>
            <a:endParaRPr lang="en-US" sz="900" dirty="0"/>
          </a:p>
        </p:txBody>
      </p:sp>
      <p:pic>
        <p:nvPicPr>
          <p:cNvPr id="1026" name="Picture 2" descr="slide1_img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805" y="250825"/>
            <a:ext cx="11645265" cy="11525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686800" cy="640080"/>
          </a:xfrm>
          <a:prstGeom prst="rect">
            <a:avLst/>
          </a:prstGeom>
          <a:noFill/>
        </p:spPr>
        <p:txBody>
          <a:bodyPr wrap="square" lIns="0" tIns="0" rIns="0" bIns="0" rtlCol="0" anchor="ctr"/>
          <a:lstStyle/>
          <a:p>
            <a:pPr marL="0" indent="0">
              <a:buNone/>
            </a:pPr>
            <a:r>
              <a:rPr lang="en-US" sz="3000" b="1" dirty="0">
                <a:solidFill>
                  <a:srgbClr val="1B2A4A"/>
                </a:solidFill>
                <a:latin typeface="Cambria" panose="02040503050406030204" pitchFamily="34" charset="0"/>
                <a:ea typeface="Cambria" panose="02040503050406030204" pitchFamily="34" charset="-122"/>
                <a:cs typeface="Cambria" panose="02040503050406030204" pitchFamily="34" charset="-120"/>
              </a:rPr>
              <a:t>What is Token Recognition?</a:t>
            </a:r>
            <a:endParaRPr lang="en-US" sz="3000" dirty="0"/>
          </a:p>
        </p:txBody>
      </p:sp>
      <p:sp>
        <p:nvSpPr>
          <p:cNvPr id="3" name="Shape 1"/>
          <p:cNvSpPr/>
          <p:nvPr/>
        </p:nvSpPr>
        <p:spPr>
          <a:xfrm>
            <a:off x="548640" y="1417320"/>
            <a:ext cx="566928" cy="566928"/>
          </a:xfrm>
          <a:prstGeom prst="ellipse">
            <a:avLst/>
          </a:prstGeom>
          <a:solidFill>
            <a:srgbClr val="2F6FED"/>
          </a:solidFill>
        </p:spPr>
      </p:sp>
      <p:pic>
        <p:nvPicPr>
          <p:cNvPr id="4" name="Image 0" descr="icons/chip_white.png"/>
          <p:cNvPicPr>
            <a:picLocks noChangeAspect="1"/>
          </p:cNvPicPr>
          <p:nvPr/>
        </p:nvPicPr>
        <p:blipFill>
          <a:blip r:embed="rId3"/>
          <a:stretch>
            <a:fillRect/>
          </a:stretch>
        </p:blipFill>
        <p:spPr>
          <a:xfrm>
            <a:off x="676199" y="1544879"/>
            <a:ext cx="311810" cy="311810"/>
          </a:xfrm>
          <a:prstGeom prst="rect">
            <a:avLst/>
          </a:prstGeom>
        </p:spPr>
      </p:pic>
      <p:sp>
        <p:nvSpPr>
          <p:cNvPr id="5" name="Text 2"/>
          <p:cNvSpPr/>
          <p:nvPr/>
        </p:nvSpPr>
        <p:spPr>
          <a:xfrm>
            <a:off x="1325880" y="1399032"/>
            <a:ext cx="5577840" cy="292608"/>
          </a:xfrm>
          <a:prstGeom prst="rect">
            <a:avLst/>
          </a:prstGeom>
          <a:noFill/>
        </p:spPr>
        <p:txBody>
          <a:bodyPr wrap="square" lIns="0" tIns="0" rIns="0" bIns="0" rtlCol="0" anchor="ctr"/>
          <a:lstStyle/>
          <a:p>
            <a:pPr marL="0" indent="0">
              <a:buNone/>
            </a:pPr>
            <a:r>
              <a:rPr lang="en-US" sz="1500" b="1" dirty="0">
                <a:solidFill>
                  <a:srgbClr val="1B2A4A"/>
                </a:solidFill>
                <a:latin typeface="Calibri" panose="020F0502020204030204" pitchFamily="34" charset="0"/>
                <a:ea typeface="Calibri" panose="020F0502020204030204" pitchFamily="34" charset="-122"/>
                <a:cs typeface="Calibri" panose="020F0502020204030204" pitchFamily="34" charset="-120"/>
              </a:rPr>
              <a:t>Finite State Automaton (FSA)</a:t>
            </a:r>
            <a:endParaRPr lang="en-US" sz="1500" dirty="0"/>
          </a:p>
        </p:txBody>
      </p:sp>
      <p:sp>
        <p:nvSpPr>
          <p:cNvPr id="6" name="Text 3"/>
          <p:cNvSpPr/>
          <p:nvPr/>
        </p:nvSpPr>
        <p:spPr>
          <a:xfrm>
            <a:off x="1325880" y="1691640"/>
            <a:ext cx="5577840" cy="502920"/>
          </a:xfrm>
          <a:prstGeom prst="rect">
            <a:avLst/>
          </a:prstGeom>
          <a:noFill/>
        </p:spPr>
        <p:txBody>
          <a:bodyPr wrap="square" lIns="0" tIns="0" rIns="0" bIns="0" rtlCol="0" anchor="ctr"/>
          <a:lstStyle/>
          <a:p>
            <a:pPr marL="0" indent="0">
              <a:lnSpc>
                <a:spcPct val="105000"/>
              </a:lnSpc>
              <a:buNone/>
            </a:pPr>
            <a:r>
              <a:rPr lang="en-US" sz="1600" dirty="0">
                <a:solidFill>
                  <a:srgbClr val="5B6B8C"/>
                </a:solidFill>
                <a:latin typeface="Times New Roman" panose="02020603050405020304" pitchFamily="18" charset="0"/>
                <a:ea typeface="Calibri" panose="020F0502020204030204" pitchFamily="34" charset="-122"/>
                <a:cs typeface="Times New Roman" panose="02020603050405020304" pitchFamily="18" charset="0"/>
              </a:rPr>
              <a:t>A simple machine with limited memory that moves between states based on input.</a:t>
            </a:r>
            <a:endParaRPr lang="en-US" sz="1600" dirty="0">
              <a:latin typeface="Times New Roman" panose="02020603050405020304" pitchFamily="18" charset="0"/>
              <a:cs typeface="Times New Roman" panose="02020603050405020304" pitchFamily="18" charset="0"/>
            </a:endParaRPr>
          </a:p>
        </p:txBody>
      </p:sp>
      <p:sp>
        <p:nvSpPr>
          <p:cNvPr id="7" name="Shape 4"/>
          <p:cNvSpPr/>
          <p:nvPr/>
        </p:nvSpPr>
        <p:spPr>
          <a:xfrm>
            <a:off x="548640" y="2587752"/>
            <a:ext cx="566928" cy="566928"/>
          </a:xfrm>
          <a:prstGeom prst="ellipse">
            <a:avLst/>
          </a:prstGeom>
          <a:solidFill>
            <a:srgbClr val="2F6FED"/>
          </a:solidFill>
        </p:spPr>
      </p:sp>
      <p:pic>
        <p:nvPicPr>
          <p:cNvPr id="8" name="Image 1" descr="icons/code_white.png"/>
          <p:cNvPicPr>
            <a:picLocks noChangeAspect="1"/>
          </p:cNvPicPr>
          <p:nvPr/>
        </p:nvPicPr>
        <p:blipFill>
          <a:blip r:embed="rId4"/>
          <a:stretch>
            <a:fillRect/>
          </a:stretch>
        </p:blipFill>
        <p:spPr>
          <a:xfrm>
            <a:off x="676199" y="2715311"/>
            <a:ext cx="311810" cy="311810"/>
          </a:xfrm>
          <a:prstGeom prst="rect">
            <a:avLst/>
          </a:prstGeom>
        </p:spPr>
      </p:pic>
      <p:sp>
        <p:nvSpPr>
          <p:cNvPr id="9" name="Text 5"/>
          <p:cNvSpPr/>
          <p:nvPr/>
        </p:nvSpPr>
        <p:spPr>
          <a:xfrm>
            <a:off x="1325880" y="2569464"/>
            <a:ext cx="5577840" cy="292608"/>
          </a:xfrm>
          <a:prstGeom prst="rect">
            <a:avLst/>
          </a:prstGeom>
          <a:noFill/>
        </p:spPr>
        <p:txBody>
          <a:bodyPr wrap="square" lIns="0" tIns="0" rIns="0" bIns="0" rtlCol="0" anchor="ctr"/>
          <a:lstStyle/>
          <a:p>
            <a:pPr marL="0" indent="0">
              <a:buNone/>
            </a:pPr>
            <a:r>
              <a:rPr lang="en-US" sz="1500" b="1" dirty="0">
                <a:solidFill>
                  <a:srgbClr val="1B2A4A"/>
                </a:solidFill>
                <a:latin typeface="Calibri" panose="020F0502020204030204" pitchFamily="34" charset="0"/>
                <a:ea typeface="Calibri" panose="020F0502020204030204" pitchFamily="34" charset="-122"/>
                <a:cs typeface="Calibri" panose="020F0502020204030204" pitchFamily="34" charset="-120"/>
              </a:rPr>
              <a:t>What are Tokens?</a:t>
            </a:r>
            <a:endParaRPr lang="en-US" sz="1500" dirty="0"/>
          </a:p>
        </p:txBody>
      </p:sp>
      <p:sp>
        <p:nvSpPr>
          <p:cNvPr id="10" name="Text 6"/>
          <p:cNvSpPr/>
          <p:nvPr/>
        </p:nvSpPr>
        <p:spPr>
          <a:xfrm>
            <a:off x="1325880" y="2862072"/>
            <a:ext cx="5577840" cy="502920"/>
          </a:xfrm>
          <a:prstGeom prst="rect">
            <a:avLst/>
          </a:prstGeom>
          <a:noFill/>
        </p:spPr>
        <p:txBody>
          <a:bodyPr wrap="square" lIns="0" tIns="0" rIns="0" bIns="0" rtlCol="0" anchor="ctr"/>
          <a:lstStyle/>
          <a:p>
            <a:pPr marL="0" indent="0">
              <a:lnSpc>
                <a:spcPct val="105000"/>
              </a:lnSpc>
              <a:buNone/>
            </a:pPr>
            <a:r>
              <a:rPr lang="en-US" sz="1600" dirty="0">
                <a:solidFill>
                  <a:srgbClr val="5B6B8C"/>
                </a:solidFill>
                <a:latin typeface="Times New Roman" panose="02020603050405020304" pitchFamily="18" charset="0"/>
                <a:ea typeface="Calibri" panose="020F0502020204030204" pitchFamily="34" charset="-122"/>
                <a:cs typeface="Times New Roman" panose="02020603050405020304" pitchFamily="18" charset="0"/>
              </a:rPr>
              <a:t>The smallest meaningful units in code — keywords, identifiers, numbers, operators.</a:t>
            </a:r>
            <a:endParaRPr lang="en-US" sz="1600" dirty="0">
              <a:latin typeface="Times New Roman" panose="02020603050405020304" pitchFamily="18" charset="0"/>
              <a:cs typeface="Times New Roman" panose="02020603050405020304" pitchFamily="18" charset="0"/>
            </a:endParaRPr>
          </a:p>
        </p:txBody>
      </p:sp>
      <p:sp>
        <p:nvSpPr>
          <p:cNvPr id="11" name="Shape 7"/>
          <p:cNvSpPr/>
          <p:nvPr/>
        </p:nvSpPr>
        <p:spPr>
          <a:xfrm>
            <a:off x="548640" y="3758184"/>
            <a:ext cx="566928" cy="566928"/>
          </a:xfrm>
          <a:prstGeom prst="ellipse">
            <a:avLst/>
          </a:prstGeom>
          <a:solidFill>
            <a:srgbClr val="2F6FED"/>
          </a:solidFill>
        </p:spPr>
      </p:sp>
      <p:pic>
        <p:nvPicPr>
          <p:cNvPr id="12" name="Image 2" descr="icons/bulb_white.png"/>
          <p:cNvPicPr>
            <a:picLocks noChangeAspect="1"/>
          </p:cNvPicPr>
          <p:nvPr/>
        </p:nvPicPr>
        <p:blipFill>
          <a:blip r:embed="rId5"/>
          <a:stretch>
            <a:fillRect/>
          </a:stretch>
        </p:blipFill>
        <p:spPr>
          <a:xfrm>
            <a:off x="676199" y="3885743"/>
            <a:ext cx="311810" cy="311810"/>
          </a:xfrm>
          <a:prstGeom prst="rect">
            <a:avLst/>
          </a:prstGeom>
        </p:spPr>
      </p:pic>
      <p:sp>
        <p:nvSpPr>
          <p:cNvPr id="13" name="Text 8"/>
          <p:cNvSpPr/>
          <p:nvPr/>
        </p:nvSpPr>
        <p:spPr>
          <a:xfrm>
            <a:off x="1325880" y="3739896"/>
            <a:ext cx="5577840" cy="292608"/>
          </a:xfrm>
          <a:prstGeom prst="rect">
            <a:avLst/>
          </a:prstGeom>
          <a:noFill/>
        </p:spPr>
        <p:txBody>
          <a:bodyPr wrap="square" lIns="0" tIns="0" rIns="0" bIns="0" rtlCol="0" anchor="ctr"/>
          <a:lstStyle/>
          <a:p>
            <a:pPr marL="0" indent="0">
              <a:buNone/>
            </a:pPr>
            <a:r>
              <a:rPr lang="en-US" sz="1500" b="1" dirty="0">
                <a:solidFill>
                  <a:srgbClr val="1B2A4A"/>
                </a:solidFill>
                <a:latin typeface="Calibri" panose="020F0502020204030204" pitchFamily="34" charset="0"/>
                <a:ea typeface="Calibri" panose="020F0502020204030204" pitchFamily="34" charset="-122"/>
                <a:cs typeface="Calibri" panose="020F0502020204030204" pitchFamily="34" charset="-120"/>
              </a:rPr>
              <a:t>Why It Matters</a:t>
            </a:r>
            <a:endParaRPr lang="en-US" sz="1500" dirty="0"/>
          </a:p>
        </p:txBody>
      </p:sp>
      <p:sp>
        <p:nvSpPr>
          <p:cNvPr id="14" name="Text 9"/>
          <p:cNvSpPr/>
          <p:nvPr/>
        </p:nvSpPr>
        <p:spPr>
          <a:xfrm>
            <a:off x="1325880" y="4032504"/>
            <a:ext cx="5577840" cy="502920"/>
          </a:xfrm>
          <a:prstGeom prst="rect">
            <a:avLst/>
          </a:prstGeom>
          <a:noFill/>
        </p:spPr>
        <p:txBody>
          <a:bodyPr wrap="square" lIns="0" tIns="0" rIns="0" bIns="0" rtlCol="0" anchor="ctr"/>
          <a:lstStyle/>
          <a:p>
            <a:pPr marL="0" indent="0">
              <a:lnSpc>
                <a:spcPct val="105000"/>
              </a:lnSpc>
              <a:buNone/>
            </a:pPr>
            <a:r>
              <a:rPr lang="en-US" sz="1600" dirty="0">
                <a:solidFill>
                  <a:srgbClr val="5B6B8C"/>
                </a:solidFill>
                <a:latin typeface="Times New Roman" panose="02020603050405020304" pitchFamily="18" charset="0"/>
                <a:ea typeface="Calibri" panose="020F0502020204030204" pitchFamily="34" charset="-122"/>
                <a:cs typeface="Times New Roman" panose="02020603050405020304" pitchFamily="18" charset="0"/>
              </a:rPr>
              <a:t>FASs let a compiler scan code fast and check if a symbol is valid, before parsing begins.</a:t>
            </a:r>
          </a:p>
        </p:txBody>
      </p:sp>
      <p:sp>
        <p:nvSpPr>
          <p:cNvPr id="15" name="Shape 10"/>
          <p:cNvSpPr/>
          <p:nvPr/>
        </p:nvSpPr>
        <p:spPr>
          <a:xfrm>
            <a:off x="548640" y="4928616"/>
            <a:ext cx="566928" cy="566928"/>
          </a:xfrm>
          <a:prstGeom prst="ellipse">
            <a:avLst/>
          </a:prstGeom>
          <a:solidFill>
            <a:srgbClr val="2F6FED"/>
          </a:solidFill>
        </p:spPr>
      </p:sp>
      <p:pic>
        <p:nvPicPr>
          <p:cNvPr id="16" name="Image 3" descr="icons/gauge_white.png"/>
          <p:cNvPicPr>
            <a:picLocks noChangeAspect="1"/>
          </p:cNvPicPr>
          <p:nvPr/>
        </p:nvPicPr>
        <p:blipFill>
          <a:blip r:embed="rId6"/>
          <a:stretch>
            <a:fillRect/>
          </a:stretch>
        </p:blipFill>
        <p:spPr>
          <a:xfrm>
            <a:off x="676199" y="5056175"/>
            <a:ext cx="311810" cy="311810"/>
          </a:xfrm>
          <a:prstGeom prst="rect">
            <a:avLst/>
          </a:prstGeom>
        </p:spPr>
      </p:pic>
      <p:sp>
        <p:nvSpPr>
          <p:cNvPr id="17" name="Text 11"/>
          <p:cNvSpPr/>
          <p:nvPr/>
        </p:nvSpPr>
        <p:spPr>
          <a:xfrm>
            <a:off x="1325880" y="4910328"/>
            <a:ext cx="5577840" cy="292608"/>
          </a:xfrm>
          <a:prstGeom prst="rect">
            <a:avLst/>
          </a:prstGeom>
          <a:noFill/>
        </p:spPr>
        <p:txBody>
          <a:bodyPr wrap="square" lIns="0" tIns="0" rIns="0" bIns="0" rtlCol="0" anchor="ctr"/>
          <a:lstStyle/>
          <a:p>
            <a:pPr marL="0" indent="0">
              <a:buNone/>
            </a:pPr>
            <a:r>
              <a:rPr lang="en-US" sz="1500" b="1" dirty="0">
                <a:solidFill>
                  <a:srgbClr val="1B2A4A"/>
                </a:solidFill>
                <a:latin typeface="Calibri" panose="020F0502020204030204" pitchFamily="34" charset="0"/>
                <a:ea typeface="Calibri" panose="020F0502020204030204" pitchFamily="34" charset="-122"/>
                <a:cs typeface="Calibri" panose="020F0502020204030204" pitchFamily="34" charset="-120"/>
              </a:rPr>
              <a:t>Real-Life Analogy</a:t>
            </a:r>
            <a:endParaRPr lang="en-US" sz="1500" dirty="0"/>
          </a:p>
        </p:txBody>
      </p:sp>
      <p:sp>
        <p:nvSpPr>
          <p:cNvPr id="18" name="Text 12"/>
          <p:cNvSpPr/>
          <p:nvPr/>
        </p:nvSpPr>
        <p:spPr>
          <a:xfrm>
            <a:off x="1325880" y="5202936"/>
            <a:ext cx="5577840" cy="502920"/>
          </a:xfrm>
          <a:prstGeom prst="rect">
            <a:avLst/>
          </a:prstGeom>
          <a:noFill/>
        </p:spPr>
        <p:txBody>
          <a:bodyPr wrap="square" lIns="0" tIns="0" rIns="0" bIns="0" rtlCol="0" anchor="ctr"/>
          <a:lstStyle/>
          <a:p>
            <a:pPr marL="0" algn="l">
              <a:lnSpc>
                <a:spcPct val="105000"/>
              </a:lnSpc>
              <a:buClrTx/>
              <a:buSzTx/>
              <a:buFontTx/>
              <a:buNone/>
            </a:pPr>
            <a:r>
              <a:rPr lang="en-US" sz="1600" dirty="0">
                <a:solidFill>
                  <a:srgbClr val="5B6B8C"/>
                </a:solidFill>
                <a:latin typeface="Times New Roman" panose="02020603050405020304" pitchFamily="18" charset="0"/>
                <a:ea typeface="Calibri" panose="020F0502020204030204" pitchFamily="34" charset="-122"/>
                <a:cs typeface="Times New Roman" panose="02020603050405020304" pitchFamily="18" charset="0"/>
              </a:rPr>
              <a:t>Just like an ATM, traffic signal, or login system — moving step-by-step through valid states.</a:t>
            </a:r>
          </a:p>
        </p:txBody>
      </p:sp>
      <p:sp>
        <p:nvSpPr>
          <p:cNvPr id="19" name="Shape 13"/>
          <p:cNvSpPr/>
          <p:nvPr/>
        </p:nvSpPr>
        <p:spPr>
          <a:xfrm>
            <a:off x="7269480" y="1417320"/>
            <a:ext cx="4343400" cy="4709160"/>
          </a:xfrm>
          <a:prstGeom prst="roundRect">
            <a:avLst>
              <a:gd name="adj" fmla="val 2526"/>
            </a:avLst>
          </a:prstGeom>
          <a:solidFill>
            <a:srgbClr val="E8F0FE"/>
          </a:solidFill>
        </p:spPr>
      </p:sp>
      <p:sp>
        <p:nvSpPr>
          <p:cNvPr id="20" name="Text 14"/>
          <p:cNvSpPr/>
          <p:nvPr/>
        </p:nvSpPr>
        <p:spPr>
          <a:xfrm>
            <a:off x="7498080" y="1627632"/>
            <a:ext cx="3931920" cy="320040"/>
          </a:xfrm>
          <a:prstGeom prst="rect">
            <a:avLst/>
          </a:prstGeom>
          <a:noFill/>
        </p:spPr>
        <p:txBody>
          <a:bodyPr wrap="square" lIns="0" tIns="0" rIns="0" bIns="0" rtlCol="0" anchor="ctr"/>
          <a:lstStyle/>
          <a:p>
            <a:pPr marL="0" indent="0">
              <a:buNone/>
            </a:pPr>
            <a:r>
              <a:rPr lang="en-US" sz="1300" b="1" dirty="0">
                <a:solidFill>
                  <a:srgbClr val="1B2A4A"/>
                </a:solidFill>
                <a:latin typeface="Calibri" panose="020F0502020204030204" pitchFamily="34" charset="0"/>
                <a:ea typeface="Calibri" panose="020F0502020204030204" pitchFamily="34" charset="-122"/>
                <a:cs typeface="Calibri" panose="020F0502020204030204" pitchFamily="34" charset="-120"/>
              </a:rPr>
              <a:t>A Simple State Machine</a:t>
            </a:r>
            <a:endParaRPr lang="en-US" sz="1300" dirty="0"/>
          </a:p>
        </p:txBody>
      </p:sp>
      <p:sp>
        <p:nvSpPr>
          <p:cNvPr id="21" name="Shape 15"/>
          <p:cNvSpPr/>
          <p:nvPr/>
        </p:nvSpPr>
        <p:spPr>
          <a:xfrm>
            <a:off x="7452360" y="3063240"/>
            <a:ext cx="228600" cy="0"/>
          </a:xfrm>
          <a:prstGeom prst="line">
            <a:avLst/>
          </a:prstGeom>
          <a:noFill/>
          <a:ln w="19050">
            <a:solidFill>
              <a:srgbClr val="1B2A4A"/>
            </a:solidFill>
            <a:prstDash val="solid"/>
            <a:tailEnd type="triangle"/>
          </a:ln>
        </p:spPr>
      </p:sp>
      <p:sp>
        <p:nvSpPr>
          <p:cNvPr id="22" name="Text 16"/>
          <p:cNvSpPr/>
          <p:nvPr/>
        </p:nvSpPr>
        <p:spPr>
          <a:xfrm>
            <a:off x="7360920" y="2679192"/>
            <a:ext cx="822960" cy="274320"/>
          </a:xfrm>
          <a:prstGeom prst="rect">
            <a:avLst/>
          </a:prstGeom>
          <a:noFill/>
        </p:spPr>
        <p:txBody>
          <a:bodyPr wrap="square" lIns="0" tIns="0" rIns="0" bIns="0" rtlCol="0" anchor="ctr"/>
          <a:lstStyle/>
          <a:p>
            <a:pPr marL="0" indent="0">
              <a:buNone/>
            </a:pPr>
            <a:r>
              <a:rPr lang="en-US" sz="950" i="1" dirty="0">
                <a:solidFill>
                  <a:srgbClr val="5B6B8C"/>
                </a:solidFill>
                <a:latin typeface="Calibri" panose="020F0502020204030204" pitchFamily="34" charset="0"/>
                <a:ea typeface="Calibri" panose="020F0502020204030204" pitchFamily="34" charset="-122"/>
                <a:cs typeface="Calibri" panose="020F0502020204030204" pitchFamily="34" charset="-120"/>
              </a:rPr>
              <a:t>start</a:t>
            </a:r>
            <a:endParaRPr lang="en-US" sz="950" dirty="0"/>
          </a:p>
        </p:txBody>
      </p:sp>
      <p:sp>
        <p:nvSpPr>
          <p:cNvPr id="23" name="Shape 17"/>
          <p:cNvSpPr/>
          <p:nvPr/>
        </p:nvSpPr>
        <p:spPr>
          <a:xfrm>
            <a:off x="7680960" y="2606040"/>
            <a:ext cx="914400" cy="914400"/>
          </a:xfrm>
          <a:prstGeom prst="ellipse">
            <a:avLst/>
          </a:prstGeom>
          <a:solidFill>
            <a:srgbClr val="FFFFFF"/>
          </a:solidFill>
          <a:ln w="25400">
            <a:solidFill>
              <a:srgbClr val="1B2A4A"/>
            </a:solidFill>
            <a:prstDash val="solid"/>
          </a:ln>
        </p:spPr>
      </p:sp>
      <p:sp>
        <p:nvSpPr>
          <p:cNvPr id="24" name="Text 18"/>
          <p:cNvSpPr/>
          <p:nvPr/>
        </p:nvSpPr>
        <p:spPr>
          <a:xfrm>
            <a:off x="7680960" y="2880360"/>
            <a:ext cx="914400" cy="365760"/>
          </a:xfrm>
          <a:prstGeom prst="rect">
            <a:avLst/>
          </a:prstGeom>
          <a:noFill/>
        </p:spPr>
        <p:txBody>
          <a:bodyPr wrap="square" lIns="0" tIns="0" rIns="0" bIns="0" rtlCol="0" anchor="ctr"/>
          <a:lstStyle/>
          <a:p>
            <a:pPr marL="0" indent="0" algn="ctr">
              <a:buNone/>
            </a:pPr>
            <a:r>
              <a:rPr lang="en-US" sz="1500" b="1" dirty="0">
                <a:solidFill>
                  <a:srgbClr val="1B2A4A"/>
                </a:solidFill>
                <a:latin typeface="Calibri" panose="020F0502020204030204" pitchFamily="34" charset="0"/>
                <a:ea typeface="Calibri" panose="020F0502020204030204" pitchFamily="34" charset="-122"/>
                <a:cs typeface="Calibri" panose="020F0502020204030204" pitchFamily="34" charset="-120"/>
              </a:rPr>
              <a:t>q0</a:t>
            </a:r>
            <a:endParaRPr lang="en-US" sz="1500" dirty="0"/>
          </a:p>
        </p:txBody>
      </p:sp>
      <p:sp>
        <p:nvSpPr>
          <p:cNvPr id="25" name="Shape 19"/>
          <p:cNvSpPr/>
          <p:nvPr/>
        </p:nvSpPr>
        <p:spPr>
          <a:xfrm>
            <a:off x="8595360" y="3063240"/>
            <a:ext cx="411480" cy="0"/>
          </a:xfrm>
          <a:prstGeom prst="line">
            <a:avLst/>
          </a:prstGeom>
          <a:noFill/>
          <a:ln w="19050">
            <a:solidFill>
              <a:srgbClr val="1B2A4A"/>
            </a:solidFill>
            <a:prstDash val="solid"/>
            <a:tailEnd type="triangle"/>
          </a:ln>
        </p:spPr>
      </p:sp>
      <p:sp>
        <p:nvSpPr>
          <p:cNvPr id="26" name="Text 20"/>
          <p:cNvSpPr/>
          <p:nvPr/>
        </p:nvSpPr>
        <p:spPr>
          <a:xfrm>
            <a:off x="8641080" y="2715768"/>
            <a:ext cx="1005840" cy="274320"/>
          </a:xfrm>
          <a:prstGeom prst="rect">
            <a:avLst/>
          </a:prstGeom>
          <a:noFill/>
        </p:spPr>
        <p:txBody>
          <a:bodyPr wrap="square" lIns="0" tIns="0" rIns="0" bIns="0" rtlCol="0" anchor="ctr"/>
          <a:lstStyle/>
          <a:p>
            <a:pPr marL="0" indent="0">
              <a:buNone/>
            </a:pPr>
            <a:r>
              <a:rPr lang="en-US" sz="950" i="1" dirty="0">
                <a:solidFill>
                  <a:srgbClr val="5B6B8C"/>
                </a:solidFill>
                <a:latin typeface="Calibri" panose="020F0502020204030204" pitchFamily="34" charset="0"/>
                <a:ea typeface="Calibri" panose="020F0502020204030204" pitchFamily="34" charset="-122"/>
                <a:cs typeface="Calibri" panose="020F0502020204030204" pitchFamily="34" charset="-120"/>
              </a:rPr>
              <a:t>letter</a:t>
            </a:r>
            <a:endParaRPr lang="en-US" sz="950" dirty="0"/>
          </a:p>
        </p:txBody>
      </p:sp>
      <p:sp>
        <p:nvSpPr>
          <p:cNvPr id="27" name="Shape 21"/>
          <p:cNvSpPr/>
          <p:nvPr/>
        </p:nvSpPr>
        <p:spPr>
          <a:xfrm>
            <a:off x="9006840" y="2606040"/>
            <a:ext cx="914400" cy="914400"/>
          </a:xfrm>
          <a:prstGeom prst="ellipse">
            <a:avLst/>
          </a:prstGeom>
          <a:solidFill>
            <a:srgbClr val="2F6FED"/>
          </a:solidFill>
          <a:ln w="25400">
            <a:solidFill>
              <a:srgbClr val="1B2A4A"/>
            </a:solidFill>
            <a:prstDash val="solid"/>
          </a:ln>
        </p:spPr>
      </p:sp>
      <p:sp>
        <p:nvSpPr>
          <p:cNvPr id="28" name="Shape 22"/>
          <p:cNvSpPr/>
          <p:nvPr/>
        </p:nvSpPr>
        <p:spPr>
          <a:xfrm>
            <a:off x="9098280" y="2697480"/>
            <a:ext cx="731520" cy="731520"/>
          </a:xfrm>
          <a:prstGeom prst="ellipse">
            <a:avLst/>
          </a:prstGeom>
          <a:ln w="19050">
            <a:solidFill>
              <a:srgbClr val="FFFFFF"/>
            </a:solidFill>
            <a:prstDash val="solid"/>
          </a:ln>
        </p:spPr>
      </p:sp>
      <p:sp>
        <p:nvSpPr>
          <p:cNvPr id="29" name="Text 23"/>
          <p:cNvSpPr/>
          <p:nvPr/>
        </p:nvSpPr>
        <p:spPr>
          <a:xfrm>
            <a:off x="9006840" y="2880360"/>
            <a:ext cx="914400" cy="36576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q1</a:t>
            </a:r>
            <a:endParaRPr lang="en-US" sz="1500" dirty="0"/>
          </a:p>
        </p:txBody>
      </p:sp>
      <p:sp>
        <p:nvSpPr>
          <p:cNvPr id="30" name="Text 24"/>
          <p:cNvSpPr/>
          <p:nvPr/>
        </p:nvSpPr>
        <p:spPr>
          <a:xfrm>
            <a:off x="8961120" y="3593592"/>
            <a:ext cx="1188720" cy="256032"/>
          </a:xfrm>
          <a:prstGeom prst="rect">
            <a:avLst/>
          </a:prstGeom>
          <a:noFill/>
        </p:spPr>
        <p:txBody>
          <a:bodyPr wrap="square" lIns="0" tIns="0" rIns="0" bIns="0" rtlCol="0" anchor="ctr"/>
          <a:lstStyle/>
          <a:p>
            <a:pPr marL="0" indent="0" algn="ctr">
              <a:buNone/>
            </a:pPr>
            <a:r>
              <a:rPr lang="en-US" sz="950" i="1" dirty="0">
                <a:solidFill>
                  <a:srgbClr val="1B2A4A"/>
                </a:solidFill>
                <a:latin typeface="Calibri" panose="020F0502020204030204" pitchFamily="34" charset="0"/>
                <a:ea typeface="Calibri" panose="020F0502020204030204" pitchFamily="34" charset="-122"/>
                <a:cs typeface="Calibri" panose="020F0502020204030204" pitchFamily="34" charset="-120"/>
              </a:rPr>
              <a:t>(final)</a:t>
            </a:r>
            <a:endParaRPr lang="en-US" sz="950" dirty="0"/>
          </a:p>
        </p:txBody>
      </p:sp>
      <p:sp>
        <p:nvSpPr>
          <p:cNvPr id="31" name="Text 25"/>
          <p:cNvSpPr/>
          <p:nvPr/>
        </p:nvSpPr>
        <p:spPr>
          <a:xfrm>
            <a:off x="7498080" y="3977640"/>
            <a:ext cx="3931920" cy="365760"/>
          </a:xfrm>
          <a:prstGeom prst="rect">
            <a:avLst/>
          </a:prstGeom>
          <a:noFill/>
        </p:spPr>
        <p:txBody>
          <a:bodyPr wrap="square" lIns="0" tIns="0" rIns="0" bIns="0" rtlCol="0" anchor="ctr"/>
          <a:lstStyle/>
          <a:p>
            <a:pPr marL="0" indent="0">
              <a:buNone/>
            </a:pPr>
            <a:r>
              <a:rPr lang="en-US" sz="1100" b="1" dirty="0">
                <a:solidFill>
                  <a:srgbClr val="1B2A4A"/>
                </a:solidFill>
                <a:latin typeface="Calibri" panose="020F0502020204030204" pitchFamily="34" charset="0"/>
                <a:ea typeface="Calibri" panose="020F0502020204030204" pitchFamily="34" charset="-122"/>
                <a:cs typeface="Calibri" panose="020F0502020204030204" pitchFamily="34" charset="-120"/>
              </a:rPr>
              <a:t>q0 </a:t>
            </a:r>
            <a:r>
              <a:rPr lang="en-US" sz="1100" dirty="0">
                <a:solidFill>
                  <a:srgbClr val="5B6B8C"/>
                </a:solidFill>
                <a:latin typeface="Calibri" panose="020F0502020204030204" pitchFamily="34" charset="0"/>
                <a:ea typeface="Calibri" panose="020F0502020204030204" pitchFamily="34" charset="-122"/>
                <a:cs typeface="Calibri" panose="020F0502020204030204" pitchFamily="34" charset="-120"/>
              </a:rPr>
              <a:t>= start state,  </a:t>
            </a:r>
            <a:r>
              <a:rPr lang="en-US" sz="1100" b="1" dirty="0">
                <a:solidFill>
                  <a:srgbClr val="1B2A4A"/>
                </a:solidFill>
                <a:latin typeface="Calibri" panose="020F0502020204030204" pitchFamily="34" charset="0"/>
                <a:ea typeface="Calibri" panose="020F0502020204030204" pitchFamily="34" charset="-122"/>
                <a:cs typeface="Calibri" panose="020F0502020204030204" pitchFamily="34" charset="-120"/>
              </a:rPr>
              <a:t>q1 </a:t>
            </a:r>
            <a:r>
              <a:rPr lang="en-US" sz="1100" dirty="0">
                <a:solidFill>
                  <a:srgbClr val="5B6B8C"/>
                </a:solidFill>
                <a:latin typeface="Calibri" panose="020F0502020204030204" pitchFamily="34" charset="0"/>
                <a:ea typeface="Calibri" panose="020F0502020204030204" pitchFamily="34" charset="-122"/>
                <a:cs typeface="Calibri" panose="020F0502020204030204" pitchFamily="34" charset="-120"/>
              </a:rPr>
              <a:t>= accepting state</a:t>
            </a:r>
            <a:endParaRPr lang="en-US" sz="1100" dirty="0"/>
          </a:p>
        </p:txBody>
      </p:sp>
      <p:sp>
        <p:nvSpPr>
          <p:cNvPr id="32" name="Shape 26"/>
          <p:cNvSpPr/>
          <p:nvPr/>
        </p:nvSpPr>
        <p:spPr>
          <a:xfrm>
            <a:off x="7498080" y="4572000"/>
            <a:ext cx="3931920" cy="0"/>
          </a:xfrm>
          <a:prstGeom prst="line">
            <a:avLst/>
          </a:prstGeom>
          <a:noFill/>
          <a:ln w="9525">
            <a:solidFill>
              <a:srgbClr val="2F6FED"/>
            </a:solidFill>
            <a:prstDash val="dash"/>
          </a:ln>
        </p:spPr>
      </p:sp>
      <p:sp>
        <p:nvSpPr>
          <p:cNvPr id="33" name="Text 27"/>
          <p:cNvSpPr/>
          <p:nvPr/>
        </p:nvSpPr>
        <p:spPr>
          <a:xfrm>
            <a:off x="7498080" y="4754880"/>
            <a:ext cx="3931920" cy="274320"/>
          </a:xfrm>
          <a:prstGeom prst="rect">
            <a:avLst/>
          </a:prstGeom>
          <a:noFill/>
        </p:spPr>
        <p:txBody>
          <a:bodyPr wrap="square" lIns="0" tIns="0" rIns="0" bIns="0" rtlCol="0" anchor="ctr"/>
          <a:lstStyle/>
          <a:p>
            <a:pPr marL="0" indent="0">
              <a:buNone/>
            </a:pPr>
            <a:r>
              <a:rPr lang="en-US" sz="1200" b="1" dirty="0">
                <a:solidFill>
                  <a:srgbClr val="1B2A4A"/>
                </a:solidFill>
                <a:latin typeface="Calibri" panose="020F0502020204030204" pitchFamily="34" charset="0"/>
                <a:ea typeface="Calibri" panose="020F0502020204030204" pitchFamily="34" charset="-122"/>
                <a:cs typeface="Calibri" panose="020F0502020204030204" pitchFamily="34" charset="-120"/>
              </a:rPr>
              <a:t>Real-life examples:</a:t>
            </a:r>
            <a:endParaRPr lang="en-US" sz="1200" dirty="0"/>
          </a:p>
        </p:txBody>
      </p:sp>
      <p:sp>
        <p:nvSpPr>
          <p:cNvPr id="34" name="Shape 28"/>
          <p:cNvSpPr/>
          <p:nvPr/>
        </p:nvSpPr>
        <p:spPr>
          <a:xfrm>
            <a:off x="7516368" y="5138928"/>
            <a:ext cx="73152" cy="73152"/>
          </a:xfrm>
          <a:prstGeom prst="ellipse">
            <a:avLst/>
          </a:prstGeom>
          <a:solidFill>
            <a:srgbClr val="2F6FED"/>
          </a:solidFill>
        </p:spPr>
      </p:sp>
      <p:sp>
        <p:nvSpPr>
          <p:cNvPr id="35" name="Text 29"/>
          <p:cNvSpPr/>
          <p:nvPr/>
        </p:nvSpPr>
        <p:spPr>
          <a:xfrm>
            <a:off x="7699248" y="5074920"/>
            <a:ext cx="3749040" cy="274320"/>
          </a:xfrm>
          <a:prstGeom prst="rect">
            <a:avLst/>
          </a:prstGeom>
          <a:noFill/>
        </p:spPr>
        <p:txBody>
          <a:bodyPr wrap="square" lIns="0" tIns="0" rIns="0" bIns="0" rtlCol="0" anchor="ctr"/>
          <a:lstStyle/>
          <a:p>
            <a:pPr marL="0" indent="0">
              <a:buNone/>
            </a:pPr>
            <a:r>
              <a:rPr lang="en-US" dirty="0">
                <a:solidFill>
                  <a:srgbClr val="5B6B8C"/>
                </a:solidFill>
                <a:latin typeface="Calibri" panose="020F0502020204030204" pitchFamily="34" charset="0"/>
                <a:ea typeface="Calibri" panose="020F0502020204030204" pitchFamily="34" charset="-122"/>
                <a:cs typeface="Calibri" panose="020F0502020204030204" pitchFamily="34" charset="-120"/>
              </a:rPr>
              <a:t>ATM withdrawal steps</a:t>
            </a:r>
            <a:endParaRPr lang="en-US" dirty="0"/>
          </a:p>
        </p:txBody>
      </p:sp>
      <p:sp>
        <p:nvSpPr>
          <p:cNvPr id="36" name="Shape 30"/>
          <p:cNvSpPr/>
          <p:nvPr/>
        </p:nvSpPr>
        <p:spPr>
          <a:xfrm>
            <a:off x="7516368" y="5458968"/>
            <a:ext cx="73152" cy="73152"/>
          </a:xfrm>
          <a:prstGeom prst="ellipse">
            <a:avLst/>
          </a:prstGeom>
          <a:solidFill>
            <a:srgbClr val="2F6FED"/>
          </a:solidFill>
        </p:spPr>
      </p:sp>
      <p:sp>
        <p:nvSpPr>
          <p:cNvPr id="37" name="Text 31"/>
          <p:cNvSpPr/>
          <p:nvPr/>
        </p:nvSpPr>
        <p:spPr>
          <a:xfrm>
            <a:off x="7699248" y="5394960"/>
            <a:ext cx="3749040" cy="274320"/>
          </a:xfrm>
          <a:prstGeom prst="rect">
            <a:avLst/>
          </a:prstGeom>
          <a:noFill/>
        </p:spPr>
        <p:txBody>
          <a:bodyPr wrap="square" lIns="0" tIns="0" rIns="0" bIns="0" rtlCol="0" anchor="ctr"/>
          <a:lstStyle/>
          <a:p>
            <a:pPr marL="0" indent="0">
              <a:buNone/>
            </a:pPr>
            <a:r>
              <a:rPr lang="en-US" dirty="0">
                <a:solidFill>
                  <a:srgbClr val="5B6B8C"/>
                </a:solidFill>
                <a:latin typeface="Calibri" panose="020F0502020204030204" pitchFamily="34" charset="0"/>
                <a:ea typeface="Calibri" panose="020F0502020204030204" pitchFamily="34" charset="-122"/>
                <a:cs typeface="Calibri" panose="020F0502020204030204" pitchFamily="34" charset="-120"/>
              </a:rPr>
              <a:t>Traffic signal cycle</a:t>
            </a:r>
            <a:endParaRPr lang="en-US" dirty="0"/>
          </a:p>
        </p:txBody>
      </p:sp>
      <p:sp>
        <p:nvSpPr>
          <p:cNvPr id="38" name="Shape 32"/>
          <p:cNvSpPr/>
          <p:nvPr/>
        </p:nvSpPr>
        <p:spPr>
          <a:xfrm>
            <a:off x="7516368" y="5779008"/>
            <a:ext cx="73152" cy="73152"/>
          </a:xfrm>
          <a:prstGeom prst="ellipse">
            <a:avLst/>
          </a:prstGeom>
          <a:solidFill>
            <a:srgbClr val="2F6FED"/>
          </a:solidFill>
        </p:spPr>
      </p:sp>
      <p:sp>
        <p:nvSpPr>
          <p:cNvPr id="39" name="Text 33"/>
          <p:cNvSpPr/>
          <p:nvPr/>
        </p:nvSpPr>
        <p:spPr>
          <a:xfrm>
            <a:off x="7699248" y="5715000"/>
            <a:ext cx="3749040" cy="274320"/>
          </a:xfrm>
          <a:prstGeom prst="rect">
            <a:avLst/>
          </a:prstGeom>
          <a:noFill/>
        </p:spPr>
        <p:txBody>
          <a:bodyPr wrap="square" lIns="0" tIns="0" rIns="0" bIns="0" rtlCol="0" anchor="ctr"/>
          <a:lstStyle/>
          <a:p>
            <a:pPr marL="0" indent="0">
              <a:buNone/>
            </a:pPr>
            <a:r>
              <a:rPr lang="en-US" dirty="0">
                <a:solidFill>
                  <a:srgbClr val="5B6B8C"/>
                </a:solidFill>
                <a:latin typeface="Calibri" panose="020F0502020204030204" pitchFamily="34" charset="0"/>
                <a:ea typeface="Calibri" panose="020F0502020204030204" pitchFamily="34" charset="-122"/>
                <a:cs typeface="Calibri" panose="020F0502020204030204" pitchFamily="34" charset="-120"/>
              </a:rPr>
              <a:t>Login authentication flow</a:t>
            </a:r>
            <a:endParaRPr lang="en-US" dirty="0"/>
          </a:p>
        </p:txBody>
      </p:sp>
      <p:sp>
        <p:nvSpPr>
          <p:cNvPr id="40" name="Text 34"/>
          <p:cNvSpPr/>
          <p:nvPr/>
        </p:nvSpPr>
        <p:spPr>
          <a:xfrm>
            <a:off x="457200" y="6510528"/>
            <a:ext cx="7315200" cy="274320"/>
          </a:xfrm>
          <a:prstGeom prst="rect">
            <a:avLst/>
          </a:prstGeom>
          <a:noFill/>
        </p:spPr>
        <p:txBody>
          <a:bodyPr wrap="square" lIns="0" tIns="0" rIns="0" bIns="0" rtlCol="0" anchor="ctr"/>
          <a:lstStyle/>
          <a:p>
            <a:pPr marL="0" indent="0" algn="l">
              <a:buNone/>
            </a:pPr>
            <a:r>
              <a:rPr lang="en-US" sz="900" dirty="0">
                <a:solidFill>
                  <a:srgbClr val="5B6B8C"/>
                </a:solidFill>
                <a:latin typeface="Calibri" panose="020F0502020204030204" pitchFamily="34" charset="0"/>
                <a:ea typeface="Calibri" panose="020F0502020204030204" pitchFamily="34" charset="-122"/>
                <a:cs typeface="Calibri" panose="020F0502020204030204" pitchFamily="34" charset="-120"/>
              </a:rPr>
              <a:t>Building a Finite State Automaton for Token Recognition</a:t>
            </a:r>
            <a:endParaRPr lang="en-US" sz="900" dirty="0"/>
          </a:p>
        </p:txBody>
      </p:sp>
      <p:sp>
        <p:nvSpPr>
          <p:cNvPr id="41" name="Text 35"/>
          <p:cNvSpPr/>
          <p:nvPr/>
        </p:nvSpPr>
        <p:spPr>
          <a:xfrm>
            <a:off x="11247120" y="6510528"/>
            <a:ext cx="457200" cy="274320"/>
          </a:xfrm>
          <a:prstGeom prst="rect">
            <a:avLst/>
          </a:prstGeom>
          <a:noFill/>
        </p:spPr>
        <p:txBody>
          <a:bodyPr wrap="square" lIns="0" tIns="0" rIns="0" bIns="0" rtlCol="0" anchor="ctr"/>
          <a:lstStyle/>
          <a:p>
            <a:pPr marL="0" indent="0" algn="r">
              <a:buNone/>
            </a:pPr>
            <a:r>
              <a:rPr lang="en-US" sz="900" dirty="0">
                <a:solidFill>
                  <a:srgbClr val="5B6B8C"/>
                </a:solidFill>
                <a:latin typeface="Calibri" panose="020F0502020204030204" pitchFamily="34" charset="0"/>
                <a:ea typeface="Calibri" panose="020F0502020204030204" pitchFamily="34" charset="-122"/>
                <a:cs typeface="Calibri" panose="020F0502020204030204"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p:spPr>
        <p:txBody>
          <a:bodyPr wrap="square" lIns="0" tIns="0" rIns="0" bIns="0" rtlCol="0" anchor="ctr"/>
          <a:lstStyle/>
          <a:p>
            <a:pPr marL="0" indent="0">
              <a:buNone/>
            </a:pPr>
            <a:r>
              <a:rPr lang="en-US" sz="3000" b="1" dirty="0">
                <a:solidFill>
                  <a:srgbClr val="1B2A4A"/>
                </a:solidFill>
                <a:latin typeface="Cambria" panose="02040503050406030204" pitchFamily="34" charset="0"/>
                <a:ea typeface="Cambria" panose="02040503050406030204" pitchFamily="34" charset="-122"/>
                <a:cs typeface="Cambria" panose="02040503050406030204" pitchFamily="34" charset="-120"/>
              </a:rPr>
              <a:t>The 5 Components of an FSA</a:t>
            </a:r>
            <a:endParaRPr lang="en-US" sz="3000" dirty="0"/>
          </a:p>
        </p:txBody>
      </p:sp>
      <p:sp>
        <p:nvSpPr>
          <p:cNvPr id="3" name="Shape 1"/>
          <p:cNvSpPr/>
          <p:nvPr/>
        </p:nvSpPr>
        <p:spPr>
          <a:xfrm>
            <a:off x="548640" y="1417320"/>
            <a:ext cx="2103120" cy="2331720"/>
          </a:xfrm>
          <a:prstGeom prst="roundRect">
            <a:avLst>
              <a:gd name="adj" fmla="val 4348"/>
            </a:avLst>
          </a:prstGeom>
          <a:solidFill>
            <a:srgbClr val="E8F0FE"/>
          </a:solidFill>
        </p:spPr>
      </p:sp>
      <p:sp>
        <p:nvSpPr>
          <p:cNvPr id="4" name="Shape 2"/>
          <p:cNvSpPr/>
          <p:nvPr/>
        </p:nvSpPr>
        <p:spPr>
          <a:xfrm>
            <a:off x="1303020" y="1645920"/>
            <a:ext cx="594360" cy="594360"/>
          </a:xfrm>
          <a:prstGeom prst="ellipse">
            <a:avLst/>
          </a:prstGeom>
          <a:solidFill>
            <a:srgbClr val="2F6FED"/>
          </a:solidFill>
        </p:spPr>
      </p:sp>
      <p:pic>
        <p:nvPicPr>
          <p:cNvPr id="5" name="Image 0" descr="icons/layer_white.png"/>
          <p:cNvPicPr>
            <a:picLocks noChangeAspect="1"/>
          </p:cNvPicPr>
          <p:nvPr/>
        </p:nvPicPr>
        <p:blipFill>
          <a:blip r:embed="rId3"/>
          <a:stretch>
            <a:fillRect/>
          </a:stretch>
        </p:blipFill>
        <p:spPr>
          <a:xfrm>
            <a:off x="1436751" y="1779651"/>
            <a:ext cx="326898" cy="326898"/>
          </a:xfrm>
          <a:prstGeom prst="rect">
            <a:avLst/>
          </a:prstGeom>
        </p:spPr>
      </p:pic>
      <p:sp>
        <p:nvSpPr>
          <p:cNvPr id="6" name="Text 3"/>
          <p:cNvSpPr/>
          <p:nvPr/>
        </p:nvSpPr>
        <p:spPr>
          <a:xfrm>
            <a:off x="658368" y="2377440"/>
            <a:ext cx="1883664" cy="502920"/>
          </a:xfrm>
          <a:prstGeom prst="rect">
            <a:avLst/>
          </a:prstGeom>
          <a:noFill/>
        </p:spPr>
        <p:txBody>
          <a:bodyPr wrap="square" lIns="0" tIns="0" rIns="0" bIns="0" rtlCol="0" anchor="ctr"/>
          <a:lstStyle/>
          <a:p>
            <a:pPr marL="0" indent="0" algn="ctr">
              <a:buNone/>
            </a:pPr>
            <a:r>
              <a:rPr lang="en-US" sz="2800" b="1" dirty="0">
                <a:solidFill>
                  <a:srgbClr val="1B2A4A"/>
                </a:solidFill>
                <a:latin typeface="Calibri" panose="020F0502020204030204" pitchFamily="34" charset="0"/>
                <a:ea typeface="Calibri" panose="020F0502020204030204" pitchFamily="34" charset="-122"/>
                <a:cs typeface="Calibri" panose="020F0502020204030204" pitchFamily="34" charset="-120"/>
              </a:rPr>
              <a:t>States</a:t>
            </a:r>
          </a:p>
        </p:txBody>
      </p:sp>
      <p:sp>
        <p:nvSpPr>
          <p:cNvPr id="7" name="Text 4"/>
          <p:cNvSpPr/>
          <p:nvPr/>
        </p:nvSpPr>
        <p:spPr>
          <a:xfrm>
            <a:off x="676656" y="2880360"/>
            <a:ext cx="1847088" cy="822960"/>
          </a:xfrm>
          <a:prstGeom prst="rect">
            <a:avLst/>
          </a:prstGeom>
          <a:noFill/>
        </p:spPr>
        <p:txBody>
          <a:bodyPr wrap="square" lIns="0" tIns="0" rIns="0" bIns="0" rtlCol="0" anchor="ctr"/>
          <a:lstStyle/>
          <a:p>
            <a:pPr marL="0" indent="0" algn="ctr">
              <a:lnSpc>
                <a:spcPct val="105000"/>
              </a:lnSpc>
              <a:buNone/>
            </a:pPr>
            <a:r>
              <a:rPr lang="en-US" sz="980" dirty="0">
                <a:solidFill>
                  <a:srgbClr val="5B6B8C"/>
                </a:solidFill>
                <a:latin typeface="Calibri" panose="020F0502020204030204" pitchFamily="34" charset="0"/>
                <a:ea typeface="Calibri" panose="020F0502020204030204" pitchFamily="34" charset="-122"/>
                <a:cs typeface="Calibri" panose="020F0502020204030204" pitchFamily="34" charset="-120"/>
              </a:rPr>
              <a:t>.</a:t>
            </a:r>
            <a:endParaRPr lang="en-US" sz="980" dirty="0"/>
          </a:p>
        </p:txBody>
      </p:sp>
      <p:sp>
        <p:nvSpPr>
          <p:cNvPr id="8" name="Shape 5"/>
          <p:cNvSpPr/>
          <p:nvPr/>
        </p:nvSpPr>
        <p:spPr>
          <a:xfrm>
            <a:off x="2788920" y="1417320"/>
            <a:ext cx="2103120" cy="2331720"/>
          </a:xfrm>
          <a:prstGeom prst="roundRect">
            <a:avLst>
              <a:gd name="adj" fmla="val 4348"/>
            </a:avLst>
          </a:prstGeom>
          <a:solidFill>
            <a:srgbClr val="E8F0FE"/>
          </a:solidFill>
        </p:spPr>
      </p:sp>
      <p:sp>
        <p:nvSpPr>
          <p:cNvPr id="9" name="Shape 6"/>
          <p:cNvSpPr/>
          <p:nvPr/>
        </p:nvSpPr>
        <p:spPr>
          <a:xfrm>
            <a:off x="3543300" y="1645920"/>
            <a:ext cx="594360" cy="594360"/>
          </a:xfrm>
          <a:prstGeom prst="ellipse">
            <a:avLst/>
          </a:prstGeom>
          <a:solidFill>
            <a:srgbClr val="2F6FED"/>
          </a:solidFill>
        </p:spPr>
      </p:sp>
      <p:pic>
        <p:nvPicPr>
          <p:cNvPr id="10" name="Image 1" descr="icons/keyboard_white.png"/>
          <p:cNvPicPr>
            <a:picLocks noChangeAspect="1"/>
          </p:cNvPicPr>
          <p:nvPr/>
        </p:nvPicPr>
        <p:blipFill>
          <a:blip r:embed="rId4"/>
          <a:stretch>
            <a:fillRect/>
          </a:stretch>
        </p:blipFill>
        <p:spPr>
          <a:xfrm>
            <a:off x="3677031" y="1779651"/>
            <a:ext cx="326898" cy="326898"/>
          </a:xfrm>
          <a:prstGeom prst="rect">
            <a:avLst/>
          </a:prstGeom>
        </p:spPr>
      </p:pic>
      <p:sp>
        <p:nvSpPr>
          <p:cNvPr id="11" name="Text 7"/>
          <p:cNvSpPr/>
          <p:nvPr/>
        </p:nvSpPr>
        <p:spPr>
          <a:xfrm>
            <a:off x="2898648" y="2377440"/>
            <a:ext cx="1883664" cy="502920"/>
          </a:xfrm>
          <a:prstGeom prst="rect">
            <a:avLst/>
          </a:prstGeom>
          <a:noFill/>
        </p:spPr>
        <p:txBody>
          <a:bodyPr wrap="square" lIns="0" tIns="0" rIns="0" bIns="0" rtlCol="0" anchor="ctr"/>
          <a:lstStyle/>
          <a:p>
            <a:pPr marL="0" indent="0" algn="ctr">
              <a:buNone/>
            </a:pPr>
            <a:r>
              <a:rPr lang="en-US" sz="2400" b="1" dirty="0">
                <a:solidFill>
                  <a:srgbClr val="1B2A4A"/>
                </a:solidFill>
                <a:latin typeface="Calibri" panose="020F0502020204030204" pitchFamily="34" charset="0"/>
                <a:ea typeface="Calibri" panose="020F0502020204030204" pitchFamily="34" charset="-122"/>
                <a:cs typeface="Calibri" panose="020F0502020204030204" pitchFamily="34" charset="-120"/>
              </a:rPr>
              <a:t>Input Alphabet</a:t>
            </a:r>
            <a:endParaRPr lang="en-US" sz="2400" dirty="0"/>
          </a:p>
        </p:txBody>
      </p:sp>
      <p:sp>
        <p:nvSpPr>
          <p:cNvPr id="12" name="Text 8"/>
          <p:cNvSpPr/>
          <p:nvPr/>
        </p:nvSpPr>
        <p:spPr>
          <a:xfrm>
            <a:off x="2916936" y="2880360"/>
            <a:ext cx="1847088" cy="822960"/>
          </a:xfrm>
          <a:prstGeom prst="rect">
            <a:avLst/>
          </a:prstGeom>
          <a:noFill/>
        </p:spPr>
        <p:txBody>
          <a:bodyPr wrap="square" lIns="0" tIns="0" rIns="0" bIns="0" rtlCol="0" anchor="ctr"/>
          <a:lstStyle/>
          <a:p>
            <a:pPr marL="0" indent="0" algn="ctr">
              <a:lnSpc>
                <a:spcPct val="105000"/>
              </a:lnSpc>
              <a:buNone/>
            </a:pPr>
            <a:endParaRPr lang="en-US" sz="980" dirty="0"/>
          </a:p>
        </p:txBody>
      </p:sp>
      <p:sp>
        <p:nvSpPr>
          <p:cNvPr id="13" name="Shape 9"/>
          <p:cNvSpPr/>
          <p:nvPr/>
        </p:nvSpPr>
        <p:spPr>
          <a:xfrm>
            <a:off x="5029200" y="1417320"/>
            <a:ext cx="2103120" cy="2331720"/>
          </a:xfrm>
          <a:prstGeom prst="roundRect">
            <a:avLst>
              <a:gd name="adj" fmla="val 4348"/>
            </a:avLst>
          </a:prstGeom>
          <a:solidFill>
            <a:srgbClr val="E8F0FE"/>
          </a:solidFill>
        </p:spPr>
      </p:sp>
      <p:sp>
        <p:nvSpPr>
          <p:cNvPr id="14" name="Shape 10"/>
          <p:cNvSpPr/>
          <p:nvPr/>
        </p:nvSpPr>
        <p:spPr>
          <a:xfrm>
            <a:off x="5783580" y="1645920"/>
            <a:ext cx="594360" cy="594360"/>
          </a:xfrm>
          <a:prstGeom prst="ellipse">
            <a:avLst/>
          </a:prstGeom>
          <a:solidFill>
            <a:srgbClr val="2F6FED"/>
          </a:solidFill>
        </p:spPr>
      </p:sp>
      <p:pic>
        <p:nvPicPr>
          <p:cNvPr id="15" name="Image 2" descr="icons/play_white.png"/>
          <p:cNvPicPr>
            <a:picLocks noChangeAspect="1"/>
          </p:cNvPicPr>
          <p:nvPr/>
        </p:nvPicPr>
        <p:blipFill>
          <a:blip r:embed="rId5"/>
          <a:stretch>
            <a:fillRect/>
          </a:stretch>
        </p:blipFill>
        <p:spPr>
          <a:xfrm>
            <a:off x="5917311" y="1779651"/>
            <a:ext cx="326898" cy="326898"/>
          </a:xfrm>
          <a:prstGeom prst="rect">
            <a:avLst/>
          </a:prstGeom>
        </p:spPr>
      </p:pic>
      <p:sp>
        <p:nvSpPr>
          <p:cNvPr id="16" name="Text 11"/>
          <p:cNvSpPr/>
          <p:nvPr/>
        </p:nvSpPr>
        <p:spPr>
          <a:xfrm>
            <a:off x="5138928" y="2377440"/>
            <a:ext cx="1883664" cy="502920"/>
          </a:xfrm>
          <a:prstGeom prst="rect">
            <a:avLst/>
          </a:prstGeom>
          <a:noFill/>
        </p:spPr>
        <p:txBody>
          <a:bodyPr wrap="square" lIns="0" tIns="0" rIns="0" bIns="0" rtlCol="0" anchor="ctr"/>
          <a:lstStyle/>
          <a:p>
            <a:pPr marL="0" indent="0" algn="ctr">
              <a:buNone/>
            </a:pPr>
            <a:r>
              <a:rPr lang="en-US" sz="2800" b="1" dirty="0">
                <a:solidFill>
                  <a:srgbClr val="1B2A4A"/>
                </a:solidFill>
                <a:latin typeface="Calibri" panose="020F0502020204030204" pitchFamily="34" charset="0"/>
                <a:ea typeface="Calibri" panose="020F0502020204030204" pitchFamily="34" charset="-122"/>
                <a:cs typeface="Calibri" panose="020F0502020204030204" pitchFamily="34" charset="-120"/>
              </a:rPr>
              <a:t>Start State</a:t>
            </a:r>
            <a:endParaRPr lang="en-US" sz="2800" dirty="0"/>
          </a:p>
        </p:txBody>
      </p:sp>
      <p:sp>
        <p:nvSpPr>
          <p:cNvPr id="17" name="Text 12"/>
          <p:cNvSpPr/>
          <p:nvPr/>
        </p:nvSpPr>
        <p:spPr>
          <a:xfrm>
            <a:off x="5157216" y="2880360"/>
            <a:ext cx="1847088" cy="822960"/>
          </a:xfrm>
          <a:prstGeom prst="rect">
            <a:avLst/>
          </a:prstGeom>
          <a:noFill/>
        </p:spPr>
        <p:txBody>
          <a:bodyPr wrap="square" lIns="0" tIns="0" rIns="0" bIns="0" rtlCol="0" anchor="ctr"/>
          <a:lstStyle/>
          <a:p>
            <a:pPr marL="0" indent="0" algn="ctr">
              <a:lnSpc>
                <a:spcPct val="105000"/>
              </a:lnSpc>
              <a:buNone/>
            </a:pPr>
            <a:r>
              <a:rPr lang="en-US" sz="980" dirty="0">
                <a:solidFill>
                  <a:srgbClr val="5B6B8C"/>
                </a:solidFill>
                <a:latin typeface="Calibri" panose="020F0502020204030204" pitchFamily="34" charset="0"/>
                <a:ea typeface="Calibri" panose="020F0502020204030204" pitchFamily="34" charset="-122"/>
                <a:cs typeface="Calibri" panose="020F0502020204030204" pitchFamily="34" charset="-120"/>
              </a:rPr>
              <a:t>on</a:t>
            </a:r>
            <a:endParaRPr lang="en-US" sz="980" dirty="0"/>
          </a:p>
        </p:txBody>
      </p:sp>
      <p:sp>
        <p:nvSpPr>
          <p:cNvPr id="18" name="Shape 13"/>
          <p:cNvSpPr/>
          <p:nvPr/>
        </p:nvSpPr>
        <p:spPr>
          <a:xfrm>
            <a:off x="7269480" y="1417320"/>
            <a:ext cx="2103120" cy="2331720"/>
          </a:xfrm>
          <a:prstGeom prst="roundRect">
            <a:avLst>
              <a:gd name="adj" fmla="val 4348"/>
            </a:avLst>
          </a:prstGeom>
          <a:solidFill>
            <a:srgbClr val="E8F0FE"/>
          </a:solidFill>
        </p:spPr>
      </p:sp>
      <p:sp>
        <p:nvSpPr>
          <p:cNvPr id="19" name="Shape 14"/>
          <p:cNvSpPr/>
          <p:nvPr/>
        </p:nvSpPr>
        <p:spPr>
          <a:xfrm>
            <a:off x="8023860" y="1645920"/>
            <a:ext cx="594360" cy="594360"/>
          </a:xfrm>
          <a:prstGeom prst="ellipse">
            <a:avLst/>
          </a:prstGeom>
          <a:solidFill>
            <a:srgbClr val="2F6FED"/>
          </a:solidFill>
        </p:spPr>
      </p:sp>
      <p:pic>
        <p:nvPicPr>
          <p:cNvPr id="20" name="Image 3" descr="icons/arrowRight_white.png"/>
          <p:cNvPicPr>
            <a:picLocks noChangeAspect="1"/>
          </p:cNvPicPr>
          <p:nvPr/>
        </p:nvPicPr>
        <p:blipFill>
          <a:blip r:embed="rId6"/>
          <a:stretch>
            <a:fillRect/>
          </a:stretch>
        </p:blipFill>
        <p:spPr>
          <a:xfrm>
            <a:off x="8157591" y="1779651"/>
            <a:ext cx="326898" cy="326898"/>
          </a:xfrm>
          <a:prstGeom prst="rect">
            <a:avLst/>
          </a:prstGeom>
        </p:spPr>
      </p:pic>
      <p:sp>
        <p:nvSpPr>
          <p:cNvPr id="21" name="Text 15"/>
          <p:cNvSpPr/>
          <p:nvPr/>
        </p:nvSpPr>
        <p:spPr>
          <a:xfrm>
            <a:off x="7379208" y="2377440"/>
            <a:ext cx="1883664" cy="502920"/>
          </a:xfrm>
          <a:prstGeom prst="rect">
            <a:avLst/>
          </a:prstGeom>
          <a:noFill/>
        </p:spPr>
        <p:txBody>
          <a:bodyPr wrap="square" lIns="0" tIns="0" rIns="0" bIns="0" rtlCol="0" anchor="ctr"/>
          <a:lstStyle/>
          <a:p>
            <a:pPr marL="0" indent="0" algn="ctr">
              <a:buNone/>
            </a:pPr>
            <a:r>
              <a:rPr lang="en-US" sz="2800" b="1" dirty="0">
                <a:solidFill>
                  <a:srgbClr val="1B2A4A"/>
                </a:solidFill>
                <a:latin typeface="Calibri" panose="020F0502020204030204" pitchFamily="34" charset="0"/>
                <a:ea typeface="Calibri" panose="020F0502020204030204" pitchFamily="34" charset="-122"/>
                <a:cs typeface="Calibri" panose="020F0502020204030204" pitchFamily="34" charset="-120"/>
              </a:rPr>
              <a:t>Transition Function</a:t>
            </a:r>
            <a:endParaRPr lang="en-US" sz="2800" dirty="0"/>
          </a:p>
        </p:txBody>
      </p:sp>
      <p:sp>
        <p:nvSpPr>
          <p:cNvPr id="22" name="Text 16"/>
          <p:cNvSpPr/>
          <p:nvPr/>
        </p:nvSpPr>
        <p:spPr>
          <a:xfrm>
            <a:off x="7397496" y="2880360"/>
            <a:ext cx="1847088" cy="822960"/>
          </a:xfrm>
          <a:prstGeom prst="rect">
            <a:avLst/>
          </a:prstGeom>
          <a:noFill/>
        </p:spPr>
        <p:txBody>
          <a:bodyPr wrap="square" lIns="0" tIns="0" rIns="0" bIns="0" rtlCol="0" anchor="ctr"/>
          <a:lstStyle/>
          <a:p>
            <a:pPr marL="0" indent="0" algn="ctr">
              <a:lnSpc>
                <a:spcPct val="105000"/>
              </a:lnSpc>
              <a:buNone/>
            </a:pPr>
            <a:endParaRPr lang="en-US" sz="980" dirty="0"/>
          </a:p>
        </p:txBody>
      </p:sp>
      <p:sp>
        <p:nvSpPr>
          <p:cNvPr id="23" name="Shape 17"/>
          <p:cNvSpPr/>
          <p:nvPr/>
        </p:nvSpPr>
        <p:spPr>
          <a:xfrm>
            <a:off x="9509760" y="1417320"/>
            <a:ext cx="2103120" cy="2331720"/>
          </a:xfrm>
          <a:prstGeom prst="roundRect">
            <a:avLst>
              <a:gd name="adj" fmla="val 4348"/>
            </a:avLst>
          </a:prstGeom>
          <a:solidFill>
            <a:srgbClr val="E8F0FE"/>
          </a:solidFill>
        </p:spPr>
      </p:sp>
      <p:sp>
        <p:nvSpPr>
          <p:cNvPr id="24" name="Shape 18"/>
          <p:cNvSpPr/>
          <p:nvPr/>
        </p:nvSpPr>
        <p:spPr>
          <a:xfrm>
            <a:off x="10264140" y="1645920"/>
            <a:ext cx="594360" cy="594360"/>
          </a:xfrm>
          <a:prstGeom prst="ellipse">
            <a:avLst/>
          </a:prstGeom>
          <a:solidFill>
            <a:srgbClr val="2F6FED"/>
          </a:solidFill>
        </p:spPr>
      </p:sp>
      <p:pic>
        <p:nvPicPr>
          <p:cNvPr id="25" name="Image 4" descr="icons/flag_white.png"/>
          <p:cNvPicPr>
            <a:picLocks noChangeAspect="1"/>
          </p:cNvPicPr>
          <p:nvPr/>
        </p:nvPicPr>
        <p:blipFill>
          <a:blip r:embed="rId7"/>
          <a:stretch>
            <a:fillRect/>
          </a:stretch>
        </p:blipFill>
        <p:spPr>
          <a:xfrm>
            <a:off x="10397871" y="1779651"/>
            <a:ext cx="326898" cy="326898"/>
          </a:xfrm>
          <a:prstGeom prst="rect">
            <a:avLst/>
          </a:prstGeom>
        </p:spPr>
      </p:pic>
      <p:sp>
        <p:nvSpPr>
          <p:cNvPr id="26" name="Text 19"/>
          <p:cNvSpPr/>
          <p:nvPr/>
        </p:nvSpPr>
        <p:spPr>
          <a:xfrm>
            <a:off x="9619488" y="2377440"/>
            <a:ext cx="1883664" cy="502920"/>
          </a:xfrm>
          <a:prstGeom prst="rect">
            <a:avLst/>
          </a:prstGeom>
          <a:noFill/>
        </p:spPr>
        <p:txBody>
          <a:bodyPr wrap="square" lIns="0" tIns="0" rIns="0" bIns="0" rtlCol="0" anchor="ctr"/>
          <a:lstStyle/>
          <a:p>
            <a:pPr marL="0" indent="0" algn="ctr">
              <a:buNone/>
            </a:pPr>
            <a:r>
              <a:rPr lang="en-US" sz="2800" b="1" dirty="0">
                <a:solidFill>
                  <a:srgbClr val="1B2A4A"/>
                </a:solidFill>
                <a:latin typeface="Calibri" panose="020F0502020204030204" pitchFamily="34" charset="0"/>
                <a:ea typeface="Calibri" panose="020F0502020204030204" pitchFamily="34" charset="-122"/>
                <a:cs typeface="Calibri" panose="020F0502020204030204" pitchFamily="34" charset="-120"/>
              </a:rPr>
              <a:t>Final / Accepting State</a:t>
            </a:r>
            <a:endParaRPr lang="en-US" sz="2800" dirty="0"/>
          </a:p>
        </p:txBody>
      </p:sp>
      <p:sp>
        <p:nvSpPr>
          <p:cNvPr id="27" name="Text 20"/>
          <p:cNvSpPr/>
          <p:nvPr/>
        </p:nvSpPr>
        <p:spPr>
          <a:xfrm>
            <a:off x="9637776" y="2880360"/>
            <a:ext cx="1847088" cy="822960"/>
          </a:xfrm>
          <a:prstGeom prst="rect">
            <a:avLst/>
          </a:prstGeom>
          <a:noFill/>
        </p:spPr>
        <p:txBody>
          <a:bodyPr wrap="square" lIns="0" tIns="0" rIns="0" bIns="0" rtlCol="0" anchor="ctr"/>
          <a:lstStyle/>
          <a:p>
            <a:pPr marL="0" indent="0" algn="ctr">
              <a:lnSpc>
                <a:spcPct val="105000"/>
              </a:lnSpc>
              <a:buNone/>
            </a:pPr>
            <a:endParaRPr lang="en-US" sz="980" dirty="0"/>
          </a:p>
        </p:txBody>
      </p:sp>
      <p:sp>
        <p:nvSpPr>
          <p:cNvPr id="28" name="Text 21"/>
          <p:cNvSpPr/>
          <p:nvPr/>
        </p:nvSpPr>
        <p:spPr>
          <a:xfrm>
            <a:off x="548640" y="4069080"/>
            <a:ext cx="4572000" cy="292608"/>
          </a:xfrm>
          <a:prstGeom prst="rect">
            <a:avLst/>
          </a:prstGeom>
          <a:noFill/>
        </p:spPr>
        <p:txBody>
          <a:bodyPr wrap="square" lIns="0" tIns="0" rIns="0" bIns="0" rtlCol="0" anchor="ctr"/>
          <a:lstStyle/>
          <a:p>
            <a:pPr marL="0" indent="0">
              <a:buNone/>
            </a:pPr>
            <a:r>
              <a:rPr lang="en-US" sz="2800" b="1" dirty="0">
                <a:solidFill>
                  <a:srgbClr val="1B2A4A"/>
                </a:solidFill>
                <a:latin typeface="Times New Roman" panose="02020603050405020304" pitchFamily="18" charset="0"/>
                <a:ea typeface="Calibri" panose="020F0502020204030204" pitchFamily="34" charset="-122"/>
                <a:cs typeface="Times New Roman" panose="02020603050405020304" pitchFamily="18" charset="0"/>
              </a:rPr>
              <a:t>Labeled FSA Diagram</a:t>
            </a:r>
            <a:endParaRPr lang="en-US" sz="2800" dirty="0">
              <a:latin typeface="Times New Roman" panose="02020603050405020304" pitchFamily="18" charset="0"/>
              <a:cs typeface="Times New Roman" panose="02020603050405020304" pitchFamily="18" charset="0"/>
            </a:endParaRPr>
          </a:p>
        </p:txBody>
      </p:sp>
      <p:sp>
        <p:nvSpPr>
          <p:cNvPr id="29" name="Shape 22"/>
          <p:cNvSpPr/>
          <p:nvPr/>
        </p:nvSpPr>
        <p:spPr>
          <a:xfrm>
            <a:off x="777240" y="5623560"/>
            <a:ext cx="393192" cy="0"/>
          </a:xfrm>
          <a:prstGeom prst="line">
            <a:avLst/>
          </a:prstGeom>
          <a:noFill/>
          <a:ln w="19050">
            <a:solidFill>
              <a:srgbClr val="1B2A4A"/>
            </a:solidFill>
            <a:prstDash val="solid"/>
            <a:tailEnd type="triangle"/>
          </a:ln>
        </p:spPr>
      </p:sp>
      <p:sp>
        <p:nvSpPr>
          <p:cNvPr id="30" name="Text 23"/>
          <p:cNvSpPr/>
          <p:nvPr/>
        </p:nvSpPr>
        <p:spPr>
          <a:xfrm>
            <a:off x="640080" y="5257800"/>
            <a:ext cx="822960" cy="256032"/>
          </a:xfrm>
          <a:prstGeom prst="rect">
            <a:avLst/>
          </a:prstGeom>
          <a:noFill/>
        </p:spPr>
        <p:txBody>
          <a:bodyPr wrap="square" lIns="0" tIns="0" rIns="0" bIns="0" rtlCol="0" anchor="ctr"/>
          <a:lstStyle/>
          <a:p>
            <a:pPr marL="0" indent="0">
              <a:buNone/>
            </a:pPr>
            <a:r>
              <a:rPr lang="en-US" sz="2000" i="1" dirty="0">
                <a:solidFill>
                  <a:srgbClr val="5B6B8C"/>
                </a:solidFill>
                <a:latin typeface="Times New Roman" panose="02020603050405020304" pitchFamily="18" charset="0"/>
                <a:ea typeface="Calibri" panose="020F0502020204030204" pitchFamily="34" charset="-122"/>
                <a:cs typeface="Times New Roman" panose="02020603050405020304" pitchFamily="18" charset="0"/>
              </a:rPr>
              <a:t>start</a:t>
            </a:r>
            <a:endParaRPr lang="en-US" sz="2000" dirty="0">
              <a:latin typeface="Times New Roman" panose="02020603050405020304" pitchFamily="18" charset="0"/>
              <a:cs typeface="Times New Roman" panose="02020603050405020304" pitchFamily="18" charset="0"/>
            </a:endParaRPr>
          </a:p>
        </p:txBody>
      </p:sp>
      <p:sp>
        <p:nvSpPr>
          <p:cNvPr id="31" name="Shape 24"/>
          <p:cNvSpPr/>
          <p:nvPr/>
        </p:nvSpPr>
        <p:spPr>
          <a:xfrm>
            <a:off x="1170432" y="5239512"/>
            <a:ext cx="768096" cy="768096"/>
          </a:xfrm>
          <a:prstGeom prst="ellipse">
            <a:avLst/>
          </a:prstGeom>
          <a:solidFill>
            <a:srgbClr val="CADCFC"/>
          </a:solidFill>
          <a:ln w="25400">
            <a:solidFill>
              <a:srgbClr val="1B2A4A"/>
            </a:solidFill>
            <a:prstDash val="solid"/>
          </a:ln>
        </p:spPr>
      </p:sp>
      <p:sp>
        <p:nvSpPr>
          <p:cNvPr id="32" name="Text 25"/>
          <p:cNvSpPr/>
          <p:nvPr/>
        </p:nvSpPr>
        <p:spPr>
          <a:xfrm>
            <a:off x="1170432" y="5468112"/>
            <a:ext cx="768096" cy="310896"/>
          </a:xfrm>
          <a:prstGeom prst="rect">
            <a:avLst/>
          </a:prstGeom>
          <a:noFill/>
        </p:spPr>
        <p:txBody>
          <a:bodyPr wrap="square" lIns="0" tIns="0" rIns="0" bIns="0" rtlCol="0" anchor="ctr"/>
          <a:lstStyle/>
          <a:p>
            <a:pPr marL="0" indent="0" algn="ctr">
              <a:buNone/>
            </a:pPr>
            <a:r>
              <a:rPr lang="en-US" sz="1300" b="1" dirty="0">
                <a:solidFill>
                  <a:srgbClr val="1B2A4A"/>
                </a:solidFill>
                <a:latin typeface="Calibri" panose="020F0502020204030204" pitchFamily="34" charset="0"/>
                <a:ea typeface="Calibri" panose="020F0502020204030204" pitchFamily="34" charset="-122"/>
                <a:cs typeface="Calibri" panose="020F0502020204030204" pitchFamily="34" charset="-120"/>
              </a:rPr>
              <a:t>q0</a:t>
            </a:r>
            <a:endParaRPr lang="en-US" sz="1300" dirty="0"/>
          </a:p>
        </p:txBody>
      </p:sp>
      <p:sp>
        <p:nvSpPr>
          <p:cNvPr id="33" name="Shape 26"/>
          <p:cNvSpPr/>
          <p:nvPr/>
        </p:nvSpPr>
        <p:spPr>
          <a:xfrm>
            <a:off x="1938528" y="5623560"/>
            <a:ext cx="786384" cy="0"/>
          </a:xfrm>
          <a:prstGeom prst="line">
            <a:avLst/>
          </a:prstGeom>
          <a:noFill/>
          <a:ln w="19050">
            <a:solidFill>
              <a:srgbClr val="2F6FED"/>
            </a:solidFill>
            <a:prstDash val="solid"/>
            <a:tailEnd type="triangle"/>
          </a:ln>
        </p:spPr>
      </p:sp>
      <p:sp>
        <p:nvSpPr>
          <p:cNvPr id="34" name="Text 27"/>
          <p:cNvSpPr/>
          <p:nvPr/>
        </p:nvSpPr>
        <p:spPr>
          <a:xfrm>
            <a:off x="2240280" y="5276088"/>
            <a:ext cx="274320" cy="256032"/>
          </a:xfrm>
          <a:prstGeom prst="rect">
            <a:avLst/>
          </a:prstGeom>
          <a:noFill/>
        </p:spPr>
        <p:txBody>
          <a:bodyPr wrap="square" lIns="0" tIns="0" rIns="0" bIns="0" rtlCol="0" anchor="ctr"/>
          <a:lstStyle/>
          <a:p>
            <a:pPr marL="0" indent="0" algn="ctr">
              <a:buNone/>
            </a:pPr>
            <a:r>
              <a:rPr lang="en-US" sz="1050" i="1" dirty="0">
                <a:solidFill>
                  <a:srgbClr val="5B6B8C"/>
                </a:solidFill>
                <a:latin typeface="Calibri" panose="020F0502020204030204" pitchFamily="34" charset="0"/>
                <a:ea typeface="Calibri" panose="020F0502020204030204" pitchFamily="34" charset="-122"/>
                <a:cs typeface="Calibri" panose="020F0502020204030204" pitchFamily="34" charset="-120"/>
              </a:rPr>
              <a:t>a</a:t>
            </a:r>
            <a:endParaRPr lang="en-US" sz="1050" dirty="0"/>
          </a:p>
        </p:txBody>
      </p:sp>
      <p:sp>
        <p:nvSpPr>
          <p:cNvPr id="35" name="Shape 28"/>
          <p:cNvSpPr/>
          <p:nvPr/>
        </p:nvSpPr>
        <p:spPr>
          <a:xfrm>
            <a:off x="2724912" y="5239512"/>
            <a:ext cx="768096" cy="768096"/>
          </a:xfrm>
          <a:prstGeom prst="ellipse">
            <a:avLst/>
          </a:prstGeom>
          <a:solidFill>
            <a:srgbClr val="CADCFC"/>
          </a:solidFill>
          <a:ln w="25400">
            <a:solidFill>
              <a:srgbClr val="1B2A4A"/>
            </a:solidFill>
            <a:prstDash val="solid"/>
          </a:ln>
        </p:spPr>
      </p:sp>
      <p:sp>
        <p:nvSpPr>
          <p:cNvPr id="36" name="Text 29"/>
          <p:cNvSpPr/>
          <p:nvPr/>
        </p:nvSpPr>
        <p:spPr>
          <a:xfrm>
            <a:off x="2724912" y="5468112"/>
            <a:ext cx="768096" cy="310896"/>
          </a:xfrm>
          <a:prstGeom prst="rect">
            <a:avLst/>
          </a:prstGeom>
          <a:noFill/>
        </p:spPr>
        <p:txBody>
          <a:bodyPr wrap="square" lIns="0" tIns="0" rIns="0" bIns="0" rtlCol="0" anchor="ctr"/>
          <a:lstStyle/>
          <a:p>
            <a:pPr marL="0" indent="0" algn="ctr">
              <a:buNone/>
            </a:pPr>
            <a:r>
              <a:rPr lang="en-US" sz="1300" b="1" dirty="0">
                <a:solidFill>
                  <a:srgbClr val="1B2A4A"/>
                </a:solidFill>
                <a:latin typeface="Calibri" panose="020F0502020204030204" pitchFamily="34" charset="0"/>
                <a:ea typeface="Calibri" panose="020F0502020204030204" pitchFamily="34" charset="-122"/>
                <a:cs typeface="Calibri" panose="020F0502020204030204" pitchFamily="34" charset="-120"/>
              </a:rPr>
              <a:t>q1</a:t>
            </a:r>
            <a:endParaRPr lang="en-US" sz="1300" dirty="0"/>
          </a:p>
        </p:txBody>
      </p:sp>
      <p:sp>
        <p:nvSpPr>
          <p:cNvPr id="37" name="Shape 30"/>
          <p:cNvSpPr/>
          <p:nvPr/>
        </p:nvSpPr>
        <p:spPr>
          <a:xfrm>
            <a:off x="3493008" y="5623560"/>
            <a:ext cx="786384" cy="0"/>
          </a:xfrm>
          <a:prstGeom prst="line">
            <a:avLst/>
          </a:prstGeom>
          <a:noFill/>
          <a:ln w="19050">
            <a:solidFill>
              <a:srgbClr val="2F6FED"/>
            </a:solidFill>
            <a:prstDash val="solid"/>
            <a:tailEnd type="triangle"/>
          </a:ln>
        </p:spPr>
      </p:sp>
      <p:sp>
        <p:nvSpPr>
          <p:cNvPr id="38" name="Text 31"/>
          <p:cNvSpPr/>
          <p:nvPr/>
        </p:nvSpPr>
        <p:spPr>
          <a:xfrm>
            <a:off x="3794760" y="5276088"/>
            <a:ext cx="274320" cy="256032"/>
          </a:xfrm>
          <a:prstGeom prst="rect">
            <a:avLst/>
          </a:prstGeom>
          <a:noFill/>
        </p:spPr>
        <p:txBody>
          <a:bodyPr wrap="square" lIns="0" tIns="0" rIns="0" bIns="0" rtlCol="0" anchor="ctr"/>
          <a:lstStyle/>
          <a:p>
            <a:pPr marL="0" indent="0" algn="ctr">
              <a:buNone/>
            </a:pPr>
            <a:r>
              <a:rPr lang="en-US" sz="1050" i="1" dirty="0">
                <a:solidFill>
                  <a:srgbClr val="5B6B8C"/>
                </a:solidFill>
                <a:latin typeface="Calibri" panose="020F0502020204030204" pitchFamily="34" charset="0"/>
                <a:ea typeface="Calibri" panose="020F0502020204030204" pitchFamily="34" charset="-122"/>
                <a:cs typeface="Calibri" panose="020F0502020204030204" pitchFamily="34" charset="-120"/>
              </a:rPr>
              <a:t>b</a:t>
            </a:r>
            <a:endParaRPr lang="en-US" sz="1050" dirty="0"/>
          </a:p>
        </p:txBody>
      </p:sp>
      <p:sp>
        <p:nvSpPr>
          <p:cNvPr id="39" name="Shape 32"/>
          <p:cNvSpPr/>
          <p:nvPr/>
        </p:nvSpPr>
        <p:spPr>
          <a:xfrm>
            <a:off x="4279392" y="5239512"/>
            <a:ext cx="768096" cy="768096"/>
          </a:xfrm>
          <a:prstGeom prst="ellipse">
            <a:avLst/>
          </a:prstGeom>
          <a:solidFill>
            <a:srgbClr val="CADCFC"/>
          </a:solidFill>
          <a:ln w="25400">
            <a:solidFill>
              <a:srgbClr val="1B2A4A"/>
            </a:solidFill>
            <a:prstDash val="solid"/>
          </a:ln>
        </p:spPr>
      </p:sp>
      <p:sp>
        <p:nvSpPr>
          <p:cNvPr id="40" name="Text 33"/>
          <p:cNvSpPr/>
          <p:nvPr/>
        </p:nvSpPr>
        <p:spPr>
          <a:xfrm>
            <a:off x="4279392" y="5468112"/>
            <a:ext cx="768096" cy="310896"/>
          </a:xfrm>
          <a:prstGeom prst="rect">
            <a:avLst/>
          </a:prstGeom>
          <a:noFill/>
        </p:spPr>
        <p:txBody>
          <a:bodyPr wrap="square" lIns="0" tIns="0" rIns="0" bIns="0" rtlCol="0" anchor="ctr"/>
          <a:lstStyle/>
          <a:p>
            <a:pPr marL="0" indent="0" algn="ctr">
              <a:buNone/>
            </a:pPr>
            <a:r>
              <a:rPr lang="en-US" sz="1300" b="1" dirty="0">
                <a:solidFill>
                  <a:srgbClr val="1B2A4A"/>
                </a:solidFill>
                <a:latin typeface="Calibri" panose="020F0502020204030204" pitchFamily="34" charset="0"/>
                <a:ea typeface="Calibri" panose="020F0502020204030204" pitchFamily="34" charset="-122"/>
                <a:cs typeface="Calibri" panose="020F0502020204030204" pitchFamily="34" charset="-120"/>
              </a:rPr>
              <a:t>q2</a:t>
            </a:r>
            <a:endParaRPr lang="en-US" sz="1300" dirty="0"/>
          </a:p>
        </p:txBody>
      </p:sp>
      <p:sp>
        <p:nvSpPr>
          <p:cNvPr id="41" name="Shape 34"/>
          <p:cNvSpPr/>
          <p:nvPr/>
        </p:nvSpPr>
        <p:spPr>
          <a:xfrm>
            <a:off x="5047488" y="5623560"/>
            <a:ext cx="786384" cy="0"/>
          </a:xfrm>
          <a:prstGeom prst="line">
            <a:avLst/>
          </a:prstGeom>
          <a:noFill/>
          <a:ln w="19050">
            <a:solidFill>
              <a:srgbClr val="2F6FED"/>
            </a:solidFill>
            <a:prstDash val="solid"/>
            <a:tailEnd type="triangle"/>
          </a:ln>
        </p:spPr>
      </p:sp>
      <p:sp>
        <p:nvSpPr>
          <p:cNvPr id="42" name="Text 35"/>
          <p:cNvSpPr/>
          <p:nvPr/>
        </p:nvSpPr>
        <p:spPr>
          <a:xfrm>
            <a:off x="5349240" y="5276088"/>
            <a:ext cx="274320" cy="256032"/>
          </a:xfrm>
          <a:prstGeom prst="rect">
            <a:avLst/>
          </a:prstGeom>
          <a:noFill/>
        </p:spPr>
        <p:txBody>
          <a:bodyPr wrap="square" lIns="0" tIns="0" rIns="0" bIns="0" rtlCol="0" anchor="ctr"/>
          <a:lstStyle/>
          <a:p>
            <a:pPr marL="0" indent="0" algn="ctr">
              <a:buNone/>
            </a:pPr>
            <a:r>
              <a:rPr lang="en-US" sz="1050" i="1" dirty="0">
                <a:solidFill>
                  <a:srgbClr val="5B6B8C"/>
                </a:solidFill>
                <a:latin typeface="Calibri" panose="020F0502020204030204" pitchFamily="34" charset="0"/>
                <a:ea typeface="Calibri" panose="020F0502020204030204" pitchFamily="34" charset="-122"/>
                <a:cs typeface="Calibri" panose="020F0502020204030204" pitchFamily="34" charset="-120"/>
              </a:rPr>
              <a:t>c</a:t>
            </a:r>
            <a:endParaRPr lang="en-US" sz="1050" dirty="0"/>
          </a:p>
        </p:txBody>
      </p:sp>
      <p:sp>
        <p:nvSpPr>
          <p:cNvPr id="43" name="Shape 36"/>
          <p:cNvSpPr/>
          <p:nvPr/>
        </p:nvSpPr>
        <p:spPr>
          <a:xfrm>
            <a:off x="5833872" y="5239512"/>
            <a:ext cx="768096" cy="768096"/>
          </a:xfrm>
          <a:prstGeom prst="ellipse">
            <a:avLst/>
          </a:prstGeom>
          <a:solidFill>
            <a:srgbClr val="2F6FED"/>
          </a:solidFill>
          <a:ln w="25400">
            <a:solidFill>
              <a:srgbClr val="1B2A4A"/>
            </a:solidFill>
            <a:prstDash val="solid"/>
          </a:ln>
        </p:spPr>
      </p:sp>
      <p:sp>
        <p:nvSpPr>
          <p:cNvPr id="44" name="Shape 37"/>
          <p:cNvSpPr/>
          <p:nvPr/>
        </p:nvSpPr>
        <p:spPr>
          <a:xfrm>
            <a:off x="5916168" y="5321808"/>
            <a:ext cx="603504" cy="603504"/>
          </a:xfrm>
          <a:prstGeom prst="ellipse">
            <a:avLst/>
          </a:prstGeom>
          <a:ln w="16510">
            <a:solidFill>
              <a:srgbClr val="FFFFFF"/>
            </a:solidFill>
            <a:prstDash val="solid"/>
          </a:ln>
        </p:spPr>
      </p:sp>
      <p:sp>
        <p:nvSpPr>
          <p:cNvPr id="45" name="Text 38"/>
          <p:cNvSpPr/>
          <p:nvPr/>
        </p:nvSpPr>
        <p:spPr>
          <a:xfrm>
            <a:off x="5833872" y="5468112"/>
            <a:ext cx="768096" cy="310896"/>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q3</a:t>
            </a:r>
            <a:endParaRPr lang="en-US" sz="1300" dirty="0"/>
          </a:p>
        </p:txBody>
      </p:sp>
      <p:sp>
        <p:nvSpPr>
          <p:cNvPr id="46" name="Text 39"/>
          <p:cNvSpPr/>
          <p:nvPr/>
        </p:nvSpPr>
        <p:spPr>
          <a:xfrm>
            <a:off x="7818120" y="5458968"/>
            <a:ext cx="3840480" cy="320040"/>
          </a:xfrm>
          <a:prstGeom prst="rect">
            <a:avLst/>
          </a:prstGeom>
          <a:noFill/>
        </p:spPr>
        <p:txBody>
          <a:bodyPr wrap="square" lIns="0" tIns="0" rIns="0" bIns="0" rtlCol="0" anchor="ctr"/>
          <a:lstStyle/>
          <a:p>
            <a:pPr marL="0" indent="0">
              <a:buNone/>
            </a:pPr>
            <a:r>
              <a:rPr lang="en-US" sz="1050" i="1" dirty="0">
                <a:solidFill>
                  <a:srgbClr val="5B6B8C"/>
                </a:solidFill>
                <a:latin typeface="Calibri" panose="020F0502020204030204" pitchFamily="34" charset="0"/>
                <a:ea typeface="Calibri" panose="020F0502020204030204" pitchFamily="34" charset="-122"/>
                <a:cs typeface="Calibri" panose="020F0502020204030204" pitchFamily="34" charset="-120"/>
              </a:rPr>
              <a:t>q3 is the accepting state (double circle)</a:t>
            </a:r>
            <a:endParaRPr lang="en-US" sz="1050" dirty="0"/>
          </a:p>
        </p:txBody>
      </p:sp>
      <p:sp>
        <p:nvSpPr>
          <p:cNvPr id="47" name="Text 40"/>
          <p:cNvSpPr/>
          <p:nvPr/>
        </p:nvSpPr>
        <p:spPr>
          <a:xfrm>
            <a:off x="457200" y="6510528"/>
            <a:ext cx="7315200" cy="274320"/>
          </a:xfrm>
          <a:prstGeom prst="rect">
            <a:avLst/>
          </a:prstGeom>
          <a:noFill/>
        </p:spPr>
        <p:txBody>
          <a:bodyPr wrap="square" lIns="0" tIns="0" rIns="0" bIns="0" rtlCol="0" anchor="ctr"/>
          <a:lstStyle/>
          <a:p>
            <a:pPr marL="0" indent="0" algn="l">
              <a:buNone/>
            </a:pPr>
            <a:r>
              <a:rPr lang="en-US" sz="900" dirty="0">
                <a:solidFill>
                  <a:srgbClr val="5B6B8C"/>
                </a:solidFill>
                <a:latin typeface="Calibri" panose="020F0502020204030204" pitchFamily="34" charset="0"/>
                <a:ea typeface="Calibri" panose="020F0502020204030204" pitchFamily="34" charset="-122"/>
                <a:cs typeface="Calibri" panose="020F0502020204030204" pitchFamily="34" charset="-120"/>
              </a:rPr>
              <a:t>Building a Finite State Automaton for Token Recognition</a:t>
            </a:r>
            <a:endParaRPr lang="en-US" sz="900" dirty="0"/>
          </a:p>
        </p:txBody>
      </p:sp>
      <p:sp>
        <p:nvSpPr>
          <p:cNvPr id="48" name="Text 41"/>
          <p:cNvSpPr/>
          <p:nvPr/>
        </p:nvSpPr>
        <p:spPr>
          <a:xfrm>
            <a:off x="11247120" y="6510528"/>
            <a:ext cx="457200" cy="274320"/>
          </a:xfrm>
          <a:prstGeom prst="rect">
            <a:avLst/>
          </a:prstGeom>
          <a:noFill/>
        </p:spPr>
        <p:txBody>
          <a:bodyPr wrap="square" lIns="0" tIns="0" rIns="0" bIns="0" rtlCol="0" anchor="ctr"/>
          <a:lstStyle/>
          <a:p>
            <a:pPr marL="0" indent="0" algn="r">
              <a:buNone/>
            </a:pPr>
            <a:r>
              <a:rPr lang="en-US" sz="900" dirty="0">
                <a:solidFill>
                  <a:srgbClr val="5B6B8C"/>
                </a:solidFill>
                <a:latin typeface="Calibri" panose="020F0502020204030204" pitchFamily="34" charset="0"/>
                <a:ea typeface="Calibri" panose="020F0502020204030204" pitchFamily="34" charset="-122"/>
                <a:cs typeface="Calibri" panose="020F0502020204030204"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640080"/>
          </a:xfrm>
          <a:prstGeom prst="rect">
            <a:avLst/>
          </a:prstGeom>
          <a:noFill/>
        </p:spPr>
        <p:txBody>
          <a:bodyPr wrap="square" lIns="0" tIns="0" rIns="0" bIns="0" rtlCol="0" anchor="ctr"/>
          <a:lstStyle/>
          <a:p>
            <a:pPr marL="0" indent="0">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How a Compiler Recognizes Tokens</a:t>
            </a:r>
            <a:endParaRPr lang="en-US" sz="2800" dirty="0"/>
          </a:p>
        </p:txBody>
      </p:sp>
      <p:sp>
        <p:nvSpPr>
          <p:cNvPr id="3" name="Text 1"/>
          <p:cNvSpPr/>
          <p:nvPr/>
        </p:nvSpPr>
        <p:spPr>
          <a:xfrm>
            <a:off x="566928" y="960120"/>
            <a:ext cx="8229600" cy="365760"/>
          </a:xfrm>
          <a:prstGeom prst="rect">
            <a:avLst/>
          </a:prstGeom>
          <a:noFill/>
        </p:spPr>
        <p:txBody>
          <a:bodyPr wrap="square" lIns="0" tIns="0" rIns="0" bIns="0" rtlCol="0" anchor="ctr"/>
          <a:lstStyle/>
          <a:p>
            <a:pPr marL="0" indent="0">
              <a:buNone/>
            </a:pPr>
            <a:r>
              <a:rPr lang="en-US" sz="1300" i="1" dirty="0">
                <a:solidFill>
                  <a:srgbClr val="CADCFC"/>
                </a:solidFill>
                <a:latin typeface="Calibri" panose="020F0502020204030204" pitchFamily="34" charset="0"/>
                <a:ea typeface="Calibri" panose="020F0502020204030204" pitchFamily="34" charset="-122"/>
                <a:cs typeface="Calibri" panose="020F0502020204030204" pitchFamily="34" charset="-120"/>
              </a:rPr>
              <a:t>From raw source code to structured tokens, step by step</a:t>
            </a:r>
            <a:endParaRPr lang="en-US" sz="1300" dirty="0"/>
          </a:p>
        </p:txBody>
      </p:sp>
      <p:sp>
        <p:nvSpPr>
          <p:cNvPr id="4" name="Shape 2"/>
          <p:cNvSpPr/>
          <p:nvPr/>
        </p:nvSpPr>
        <p:spPr>
          <a:xfrm>
            <a:off x="882396" y="1965960"/>
            <a:ext cx="1874520" cy="2286000"/>
          </a:xfrm>
          <a:prstGeom prst="roundRect">
            <a:avLst>
              <a:gd name="adj" fmla="val 4878"/>
            </a:avLst>
          </a:prstGeom>
          <a:solidFill>
            <a:srgbClr val="101A33"/>
          </a:solidFill>
          <a:ln w="12700">
            <a:solidFill>
              <a:srgbClr val="2F6FED"/>
            </a:solidFill>
            <a:prstDash val="solid"/>
          </a:ln>
        </p:spPr>
      </p:sp>
      <p:sp>
        <p:nvSpPr>
          <p:cNvPr id="5" name="Shape 3"/>
          <p:cNvSpPr/>
          <p:nvPr/>
        </p:nvSpPr>
        <p:spPr>
          <a:xfrm>
            <a:off x="1545336" y="2194560"/>
            <a:ext cx="548640" cy="548640"/>
          </a:xfrm>
          <a:prstGeom prst="ellipse">
            <a:avLst/>
          </a:prstGeom>
          <a:solidFill>
            <a:srgbClr val="2F6FED"/>
          </a:solidFill>
        </p:spPr>
      </p:sp>
      <p:pic>
        <p:nvPicPr>
          <p:cNvPr id="6" name="Image 0" descr="icons/code_white.png"/>
          <p:cNvPicPr>
            <a:picLocks noChangeAspect="1"/>
          </p:cNvPicPr>
          <p:nvPr/>
        </p:nvPicPr>
        <p:blipFill>
          <a:blip r:embed="rId3"/>
          <a:stretch>
            <a:fillRect/>
          </a:stretch>
        </p:blipFill>
        <p:spPr>
          <a:xfrm>
            <a:off x="1668780" y="2318004"/>
            <a:ext cx="301752" cy="301752"/>
          </a:xfrm>
          <a:prstGeom prst="rect">
            <a:avLst/>
          </a:prstGeom>
        </p:spPr>
      </p:pic>
      <p:sp>
        <p:nvSpPr>
          <p:cNvPr id="7" name="Text 4"/>
          <p:cNvSpPr/>
          <p:nvPr/>
        </p:nvSpPr>
        <p:spPr>
          <a:xfrm>
            <a:off x="973836" y="2880360"/>
            <a:ext cx="1691640" cy="502920"/>
          </a:xfrm>
          <a:prstGeom prst="rect">
            <a:avLst/>
          </a:prstGeom>
          <a:noFill/>
        </p:spPr>
        <p:txBody>
          <a:bodyPr wrap="square" lIns="0" tIns="0" rIns="0" bIns="0" rtlCol="0" anchor="ctr"/>
          <a:lstStyle/>
          <a:p>
            <a:pPr marL="0" indent="0" algn="ctr">
              <a:buNone/>
            </a:pPr>
            <a:r>
              <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rPr>
              <a:t>Source Code</a:t>
            </a:r>
            <a:endParaRPr lang="en-US" dirty="0"/>
          </a:p>
        </p:txBody>
      </p:sp>
      <p:sp>
        <p:nvSpPr>
          <p:cNvPr id="8" name="Text 5"/>
          <p:cNvSpPr/>
          <p:nvPr/>
        </p:nvSpPr>
        <p:spPr>
          <a:xfrm>
            <a:off x="992124" y="3383280"/>
            <a:ext cx="1655064" cy="777240"/>
          </a:xfrm>
          <a:prstGeom prst="rect">
            <a:avLst/>
          </a:prstGeom>
          <a:noFill/>
        </p:spPr>
        <p:txBody>
          <a:bodyPr wrap="square" lIns="0" tIns="0" rIns="0" bIns="0" rtlCol="0" anchor="ctr"/>
          <a:lstStyle/>
          <a:p>
            <a:pPr marL="0" indent="0" algn="ctr">
              <a:lnSpc>
                <a:spcPct val="105000"/>
              </a:lnSpc>
              <a:buNone/>
            </a:pPr>
            <a:endParaRPr lang="en-US" sz="900" dirty="0"/>
          </a:p>
        </p:txBody>
      </p:sp>
      <p:sp>
        <p:nvSpPr>
          <p:cNvPr id="9" name="Shape 6"/>
          <p:cNvSpPr/>
          <p:nvPr/>
        </p:nvSpPr>
        <p:spPr>
          <a:xfrm>
            <a:off x="2756916" y="3108960"/>
            <a:ext cx="256032" cy="0"/>
          </a:xfrm>
          <a:prstGeom prst="line">
            <a:avLst/>
          </a:prstGeom>
          <a:noFill/>
          <a:ln w="25400">
            <a:solidFill>
              <a:srgbClr val="2F6FED"/>
            </a:solidFill>
            <a:prstDash val="solid"/>
            <a:tailEnd type="triangle"/>
          </a:ln>
        </p:spPr>
      </p:sp>
      <p:sp>
        <p:nvSpPr>
          <p:cNvPr id="10" name="Shape 7"/>
          <p:cNvSpPr/>
          <p:nvPr/>
        </p:nvSpPr>
        <p:spPr>
          <a:xfrm>
            <a:off x="3012948" y="1965960"/>
            <a:ext cx="1874520" cy="2286000"/>
          </a:xfrm>
          <a:prstGeom prst="roundRect">
            <a:avLst>
              <a:gd name="adj" fmla="val 4878"/>
            </a:avLst>
          </a:prstGeom>
          <a:solidFill>
            <a:srgbClr val="101A33"/>
          </a:solidFill>
          <a:ln w="12700">
            <a:solidFill>
              <a:srgbClr val="2F6FED"/>
            </a:solidFill>
            <a:prstDash val="solid"/>
          </a:ln>
        </p:spPr>
      </p:sp>
      <p:sp>
        <p:nvSpPr>
          <p:cNvPr id="11" name="Shape 8"/>
          <p:cNvSpPr/>
          <p:nvPr/>
        </p:nvSpPr>
        <p:spPr>
          <a:xfrm>
            <a:off x="3675888" y="2194560"/>
            <a:ext cx="548640" cy="548640"/>
          </a:xfrm>
          <a:prstGeom prst="ellipse">
            <a:avLst/>
          </a:prstGeom>
          <a:solidFill>
            <a:srgbClr val="2F6FED"/>
          </a:solidFill>
        </p:spPr>
      </p:sp>
      <p:pic>
        <p:nvPicPr>
          <p:cNvPr id="12" name="Image 1" descr="icons/search_white.png"/>
          <p:cNvPicPr>
            <a:picLocks noChangeAspect="1"/>
          </p:cNvPicPr>
          <p:nvPr/>
        </p:nvPicPr>
        <p:blipFill>
          <a:blip r:embed="rId4"/>
          <a:stretch>
            <a:fillRect/>
          </a:stretch>
        </p:blipFill>
        <p:spPr>
          <a:xfrm>
            <a:off x="3799332" y="2318004"/>
            <a:ext cx="301752" cy="301752"/>
          </a:xfrm>
          <a:prstGeom prst="rect">
            <a:avLst/>
          </a:prstGeom>
        </p:spPr>
      </p:pic>
      <p:sp>
        <p:nvSpPr>
          <p:cNvPr id="13" name="Text 9"/>
          <p:cNvSpPr/>
          <p:nvPr/>
        </p:nvSpPr>
        <p:spPr>
          <a:xfrm>
            <a:off x="3104388" y="2880360"/>
            <a:ext cx="1691640" cy="502920"/>
          </a:xfrm>
          <a:prstGeom prst="rect">
            <a:avLst/>
          </a:prstGeom>
          <a:noFill/>
        </p:spPr>
        <p:txBody>
          <a:bodyPr wrap="square" lIns="0" tIns="0" rIns="0" bIns="0" rtlCol="0" anchor="ctr"/>
          <a:lstStyle/>
          <a:p>
            <a:pPr marL="0" indent="0" algn="ctr">
              <a:buNone/>
            </a:pPr>
            <a:r>
              <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rPr>
              <a:t>Lexical Analyzer</a:t>
            </a:r>
            <a:endParaRPr lang="en-US" dirty="0"/>
          </a:p>
        </p:txBody>
      </p:sp>
      <p:sp>
        <p:nvSpPr>
          <p:cNvPr id="14" name="Text 10"/>
          <p:cNvSpPr/>
          <p:nvPr/>
        </p:nvSpPr>
        <p:spPr>
          <a:xfrm>
            <a:off x="3122676" y="3383280"/>
            <a:ext cx="1655064" cy="777240"/>
          </a:xfrm>
          <a:prstGeom prst="rect">
            <a:avLst/>
          </a:prstGeom>
          <a:noFill/>
        </p:spPr>
        <p:txBody>
          <a:bodyPr wrap="square" lIns="0" tIns="0" rIns="0" bIns="0" rtlCol="0" anchor="ctr"/>
          <a:lstStyle/>
          <a:p>
            <a:pPr marL="0" indent="0" algn="ctr">
              <a:lnSpc>
                <a:spcPct val="105000"/>
              </a:lnSpc>
              <a:buNone/>
            </a:pPr>
            <a:endParaRPr lang="en-US" sz="900" dirty="0"/>
          </a:p>
        </p:txBody>
      </p:sp>
      <p:sp>
        <p:nvSpPr>
          <p:cNvPr id="15" name="Shape 11"/>
          <p:cNvSpPr/>
          <p:nvPr/>
        </p:nvSpPr>
        <p:spPr>
          <a:xfrm>
            <a:off x="4887468" y="3108960"/>
            <a:ext cx="256032" cy="0"/>
          </a:xfrm>
          <a:prstGeom prst="line">
            <a:avLst/>
          </a:prstGeom>
          <a:noFill/>
          <a:ln w="25400">
            <a:solidFill>
              <a:srgbClr val="2F6FED"/>
            </a:solidFill>
            <a:prstDash val="solid"/>
            <a:tailEnd type="triangle"/>
          </a:ln>
        </p:spPr>
      </p:sp>
      <p:sp>
        <p:nvSpPr>
          <p:cNvPr id="16" name="Shape 12"/>
          <p:cNvSpPr/>
          <p:nvPr/>
        </p:nvSpPr>
        <p:spPr>
          <a:xfrm>
            <a:off x="5143500" y="1965960"/>
            <a:ext cx="1874520" cy="2286000"/>
          </a:xfrm>
          <a:prstGeom prst="roundRect">
            <a:avLst>
              <a:gd name="adj" fmla="val 4878"/>
            </a:avLst>
          </a:prstGeom>
          <a:solidFill>
            <a:srgbClr val="101A33"/>
          </a:solidFill>
          <a:ln w="12700">
            <a:solidFill>
              <a:srgbClr val="2F6FED"/>
            </a:solidFill>
            <a:prstDash val="solid"/>
          </a:ln>
        </p:spPr>
      </p:sp>
      <p:sp>
        <p:nvSpPr>
          <p:cNvPr id="17" name="Shape 13"/>
          <p:cNvSpPr/>
          <p:nvPr/>
        </p:nvSpPr>
        <p:spPr>
          <a:xfrm>
            <a:off x="5806440" y="2194560"/>
            <a:ext cx="548640" cy="548640"/>
          </a:xfrm>
          <a:prstGeom prst="ellipse">
            <a:avLst/>
          </a:prstGeom>
          <a:solidFill>
            <a:srgbClr val="2F6FED"/>
          </a:solidFill>
        </p:spPr>
      </p:sp>
      <p:pic>
        <p:nvPicPr>
          <p:cNvPr id="18" name="Image 2" descr="icons/chip_white.png"/>
          <p:cNvPicPr>
            <a:picLocks noChangeAspect="1"/>
          </p:cNvPicPr>
          <p:nvPr/>
        </p:nvPicPr>
        <p:blipFill>
          <a:blip r:embed="rId5"/>
          <a:stretch>
            <a:fillRect/>
          </a:stretch>
        </p:blipFill>
        <p:spPr>
          <a:xfrm>
            <a:off x="5929884" y="2318004"/>
            <a:ext cx="301752" cy="301752"/>
          </a:xfrm>
          <a:prstGeom prst="rect">
            <a:avLst/>
          </a:prstGeom>
        </p:spPr>
      </p:pic>
      <p:sp>
        <p:nvSpPr>
          <p:cNvPr id="19" name="Text 14"/>
          <p:cNvSpPr/>
          <p:nvPr/>
        </p:nvSpPr>
        <p:spPr>
          <a:xfrm>
            <a:off x="5234940" y="2880360"/>
            <a:ext cx="1691640" cy="502920"/>
          </a:xfrm>
          <a:prstGeom prst="rect">
            <a:avLst/>
          </a:prstGeom>
          <a:noFill/>
        </p:spPr>
        <p:txBody>
          <a:bodyPr wrap="square" lIns="0" tIns="0" rIns="0" bIns="0" rtlCol="0" anchor="ctr"/>
          <a:lstStyle/>
          <a:p>
            <a:pPr marL="0" indent="0" algn="ctr">
              <a:buNone/>
            </a:pPr>
            <a:r>
              <a:rPr lang="en-US" b="1" dirty="0">
                <a:solidFill>
                  <a:srgbClr val="FFFFFF"/>
                </a:solidFill>
                <a:latin typeface="Times New Roman" panose="02020603050405020304" pitchFamily="18" charset="0"/>
                <a:ea typeface="Calibri" panose="020F0502020204030204" pitchFamily="34" charset="-122"/>
                <a:cs typeface="Times New Roman" panose="02020603050405020304" pitchFamily="18" charset="0"/>
              </a:rPr>
              <a:t>Finite State Automaton</a:t>
            </a:r>
            <a:endParaRPr lang="en-US" dirty="0">
              <a:latin typeface="Times New Roman" panose="02020603050405020304" pitchFamily="18" charset="0"/>
              <a:cs typeface="Times New Roman" panose="02020603050405020304" pitchFamily="18" charset="0"/>
            </a:endParaRPr>
          </a:p>
        </p:txBody>
      </p:sp>
      <p:sp>
        <p:nvSpPr>
          <p:cNvPr id="20" name="Text 15"/>
          <p:cNvSpPr/>
          <p:nvPr/>
        </p:nvSpPr>
        <p:spPr>
          <a:xfrm>
            <a:off x="5253228" y="3383280"/>
            <a:ext cx="1655064" cy="777240"/>
          </a:xfrm>
          <a:prstGeom prst="rect">
            <a:avLst/>
          </a:prstGeom>
          <a:noFill/>
        </p:spPr>
        <p:txBody>
          <a:bodyPr wrap="square" lIns="0" tIns="0" rIns="0" bIns="0" rtlCol="0" anchor="ctr"/>
          <a:lstStyle/>
          <a:p>
            <a:pPr marL="0" indent="0" algn="ctr">
              <a:lnSpc>
                <a:spcPct val="105000"/>
              </a:lnSpc>
              <a:buNone/>
            </a:pPr>
            <a:endParaRPr lang="en-US" sz="900" dirty="0"/>
          </a:p>
        </p:txBody>
      </p:sp>
      <p:sp>
        <p:nvSpPr>
          <p:cNvPr id="21" name="Shape 16"/>
          <p:cNvSpPr/>
          <p:nvPr/>
        </p:nvSpPr>
        <p:spPr>
          <a:xfrm>
            <a:off x="7018020" y="3108960"/>
            <a:ext cx="256032" cy="0"/>
          </a:xfrm>
          <a:prstGeom prst="line">
            <a:avLst/>
          </a:prstGeom>
          <a:noFill/>
          <a:ln w="25400">
            <a:solidFill>
              <a:srgbClr val="2F6FED"/>
            </a:solidFill>
            <a:prstDash val="solid"/>
            <a:tailEnd type="triangle"/>
          </a:ln>
        </p:spPr>
      </p:sp>
      <p:sp>
        <p:nvSpPr>
          <p:cNvPr id="22" name="Shape 17"/>
          <p:cNvSpPr/>
          <p:nvPr/>
        </p:nvSpPr>
        <p:spPr>
          <a:xfrm>
            <a:off x="7274052" y="1965960"/>
            <a:ext cx="1874520" cy="2286000"/>
          </a:xfrm>
          <a:prstGeom prst="roundRect">
            <a:avLst>
              <a:gd name="adj" fmla="val 4878"/>
            </a:avLst>
          </a:prstGeom>
          <a:solidFill>
            <a:srgbClr val="101A33"/>
          </a:solidFill>
          <a:ln w="12700">
            <a:solidFill>
              <a:srgbClr val="2F6FED"/>
            </a:solidFill>
            <a:prstDash val="solid"/>
          </a:ln>
        </p:spPr>
      </p:sp>
      <p:sp>
        <p:nvSpPr>
          <p:cNvPr id="23" name="Shape 18"/>
          <p:cNvSpPr/>
          <p:nvPr/>
        </p:nvSpPr>
        <p:spPr>
          <a:xfrm>
            <a:off x="7936992" y="2194560"/>
            <a:ext cx="548640" cy="548640"/>
          </a:xfrm>
          <a:prstGeom prst="ellipse">
            <a:avLst/>
          </a:prstGeom>
          <a:solidFill>
            <a:srgbClr val="2F6FED"/>
          </a:solidFill>
        </p:spPr>
      </p:sp>
      <p:pic>
        <p:nvPicPr>
          <p:cNvPr id="24" name="Image 3" descr="icons/check_white.png"/>
          <p:cNvPicPr>
            <a:picLocks noChangeAspect="1"/>
          </p:cNvPicPr>
          <p:nvPr/>
        </p:nvPicPr>
        <p:blipFill>
          <a:blip r:embed="rId6"/>
          <a:stretch>
            <a:fillRect/>
          </a:stretch>
        </p:blipFill>
        <p:spPr>
          <a:xfrm>
            <a:off x="8060436" y="2318004"/>
            <a:ext cx="301752" cy="301752"/>
          </a:xfrm>
          <a:prstGeom prst="rect">
            <a:avLst/>
          </a:prstGeom>
        </p:spPr>
      </p:pic>
      <p:sp>
        <p:nvSpPr>
          <p:cNvPr id="25" name="Text 19"/>
          <p:cNvSpPr/>
          <p:nvPr/>
        </p:nvSpPr>
        <p:spPr>
          <a:xfrm>
            <a:off x="7365492" y="2880360"/>
            <a:ext cx="1691640" cy="502920"/>
          </a:xfrm>
          <a:prstGeom prst="rect">
            <a:avLst/>
          </a:prstGeom>
          <a:noFill/>
        </p:spPr>
        <p:txBody>
          <a:bodyPr wrap="square" lIns="0" tIns="0" rIns="0" bIns="0" rtlCol="0" anchor="ctr"/>
          <a:lstStyle/>
          <a:p>
            <a:pPr marL="0" indent="0" algn="ctr">
              <a:buNone/>
            </a:pPr>
            <a:r>
              <a:rPr lang="en-US" b="1" dirty="0">
                <a:solidFill>
                  <a:srgbClr val="FFFFFF"/>
                </a:solidFill>
                <a:latin typeface="Times New Roman" panose="02020603050405020304" pitchFamily="18" charset="0"/>
                <a:ea typeface="Calibri" panose="020F0502020204030204" pitchFamily="34" charset="-122"/>
                <a:cs typeface="Times New Roman" panose="02020603050405020304" pitchFamily="18" charset="0"/>
              </a:rPr>
              <a:t>Recognized Tokens</a:t>
            </a:r>
            <a:endParaRPr lang="en-US" dirty="0">
              <a:latin typeface="Times New Roman" panose="02020603050405020304" pitchFamily="18" charset="0"/>
              <a:cs typeface="Times New Roman" panose="02020603050405020304" pitchFamily="18" charset="0"/>
            </a:endParaRPr>
          </a:p>
        </p:txBody>
      </p:sp>
      <p:sp>
        <p:nvSpPr>
          <p:cNvPr id="26" name="Text 20"/>
          <p:cNvSpPr/>
          <p:nvPr/>
        </p:nvSpPr>
        <p:spPr>
          <a:xfrm>
            <a:off x="7383780" y="3383280"/>
            <a:ext cx="1655064" cy="777240"/>
          </a:xfrm>
          <a:prstGeom prst="rect">
            <a:avLst/>
          </a:prstGeom>
          <a:noFill/>
        </p:spPr>
        <p:txBody>
          <a:bodyPr wrap="square" lIns="0" tIns="0" rIns="0" bIns="0" rtlCol="0" anchor="ctr"/>
          <a:lstStyle/>
          <a:p>
            <a:pPr marL="0" indent="0" algn="ctr">
              <a:lnSpc>
                <a:spcPct val="105000"/>
              </a:lnSpc>
              <a:buNone/>
            </a:pPr>
            <a:endParaRPr lang="en-US" sz="900" dirty="0"/>
          </a:p>
        </p:txBody>
      </p:sp>
      <p:sp>
        <p:nvSpPr>
          <p:cNvPr id="27" name="Shape 21"/>
          <p:cNvSpPr/>
          <p:nvPr/>
        </p:nvSpPr>
        <p:spPr>
          <a:xfrm>
            <a:off x="9148572" y="3108960"/>
            <a:ext cx="256032" cy="0"/>
          </a:xfrm>
          <a:prstGeom prst="line">
            <a:avLst/>
          </a:prstGeom>
          <a:noFill/>
          <a:ln w="25400">
            <a:solidFill>
              <a:srgbClr val="2F6FED"/>
            </a:solidFill>
            <a:prstDash val="solid"/>
            <a:tailEnd type="triangle"/>
          </a:ln>
        </p:spPr>
      </p:sp>
      <p:sp>
        <p:nvSpPr>
          <p:cNvPr id="28" name="Shape 22"/>
          <p:cNvSpPr/>
          <p:nvPr/>
        </p:nvSpPr>
        <p:spPr>
          <a:xfrm>
            <a:off x="9404604" y="1965960"/>
            <a:ext cx="1874520" cy="2286000"/>
          </a:xfrm>
          <a:prstGeom prst="roundRect">
            <a:avLst>
              <a:gd name="adj" fmla="val 4878"/>
            </a:avLst>
          </a:prstGeom>
          <a:solidFill>
            <a:srgbClr val="101A33"/>
          </a:solidFill>
          <a:ln w="12700">
            <a:solidFill>
              <a:srgbClr val="2F6FED"/>
            </a:solidFill>
            <a:prstDash val="solid"/>
          </a:ln>
        </p:spPr>
      </p:sp>
      <p:sp>
        <p:nvSpPr>
          <p:cNvPr id="29" name="Shape 23"/>
          <p:cNvSpPr/>
          <p:nvPr/>
        </p:nvSpPr>
        <p:spPr>
          <a:xfrm>
            <a:off x="10067544" y="2194560"/>
            <a:ext cx="548640" cy="548640"/>
          </a:xfrm>
          <a:prstGeom prst="ellipse">
            <a:avLst/>
          </a:prstGeom>
          <a:solidFill>
            <a:srgbClr val="2F6FED"/>
          </a:solidFill>
        </p:spPr>
      </p:sp>
      <p:pic>
        <p:nvPicPr>
          <p:cNvPr id="30" name="Image 4" descr="icons/diagram_white.png"/>
          <p:cNvPicPr>
            <a:picLocks noChangeAspect="1"/>
          </p:cNvPicPr>
          <p:nvPr/>
        </p:nvPicPr>
        <p:blipFill>
          <a:blip r:embed="rId7"/>
          <a:stretch>
            <a:fillRect/>
          </a:stretch>
        </p:blipFill>
        <p:spPr>
          <a:xfrm>
            <a:off x="10190988" y="2318004"/>
            <a:ext cx="301752" cy="301752"/>
          </a:xfrm>
          <a:prstGeom prst="rect">
            <a:avLst/>
          </a:prstGeom>
        </p:spPr>
      </p:pic>
      <p:sp>
        <p:nvSpPr>
          <p:cNvPr id="31" name="Text 24"/>
          <p:cNvSpPr/>
          <p:nvPr/>
        </p:nvSpPr>
        <p:spPr>
          <a:xfrm>
            <a:off x="9496044" y="2880360"/>
            <a:ext cx="1691640" cy="502920"/>
          </a:xfrm>
          <a:prstGeom prst="rect">
            <a:avLst/>
          </a:prstGeom>
          <a:noFill/>
        </p:spPr>
        <p:txBody>
          <a:bodyPr wrap="square" lIns="0" tIns="0" rIns="0" bIns="0" rtlCol="0" anchor="ctr"/>
          <a:lstStyle/>
          <a:p>
            <a:pPr marL="0" indent="0" algn="ctr">
              <a:buNone/>
            </a:pPr>
            <a:r>
              <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rPr>
              <a:t>Parser</a:t>
            </a:r>
            <a:endParaRPr lang="en-US" dirty="0"/>
          </a:p>
        </p:txBody>
      </p:sp>
      <p:sp>
        <p:nvSpPr>
          <p:cNvPr id="32" name="Text 25"/>
          <p:cNvSpPr/>
          <p:nvPr/>
        </p:nvSpPr>
        <p:spPr>
          <a:xfrm>
            <a:off x="9514332" y="3383280"/>
            <a:ext cx="1655064" cy="777240"/>
          </a:xfrm>
          <a:prstGeom prst="rect">
            <a:avLst/>
          </a:prstGeom>
          <a:noFill/>
        </p:spPr>
        <p:txBody>
          <a:bodyPr wrap="square" lIns="0" tIns="0" rIns="0" bIns="0" rtlCol="0" anchor="ctr"/>
          <a:lstStyle/>
          <a:p>
            <a:pPr marL="0" indent="0" algn="ctr">
              <a:lnSpc>
                <a:spcPct val="105000"/>
              </a:lnSpc>
              <a:buNone/>
            </a:pPr>
            <a:endParaRPr lang="en-US" sz="900" dirty="0"/>
          </a:p>
        </p:txBody>
      </p:sp>
      <p:sp>
        <p:nvSpPr>
          <p:cNvPr id="33" name="Shape 26"/>
          <p:cNvSpPr/>
          <p:nvPr/>
        </p:nvSpPr>
        <p:spPr>
          <a:xfrm>
            <a:off x="882396" y="4663440"/>
            <a:ext cx="10396728" cy="777240"/>
          </a:xfrm>
          <a:prstGeom prst="roundRect">
            <a:avLst>
              <a:gd name="adj" fmla="val 11765"/>
            </a:avLst>
          </a:prstGeom>
          <a:solidFill>
            <a:srgbClr val="101A33">
              <a:alpha val="80000"/>
            </a:srgbClr>
          </a:solidFill>
          <a:ln w="9525">
            <a:solidFill>
              <a:srgbClr val="2F6FED"/>
            </a:solidFill>
            <a:prstDash val="solid"/>
          </a:ln>
        </p:spPr>
      </p:sp>
      <p:sp>
        <p:nvSpPr>
          <p:cNvPr id="34" name="Text 27"/>
          <p:cNvSpPr/>
          <p:nvPr/>
        </p:nvSpPr>
        <p:spPr>
          <a:xfrm>
            <a:off x="1110996" y="4800600"/>
            <a:ext cx="9939528" cy="502920"/>
          </a:xfrm>
          <a:prstGeom prst="rect">
            <a:avLst/>
          </a:prstGeom>
          <a:noFill/>
        </p:spPr>
        <p:txBody>
          <a:bodyPr wrap="square" lIns="0" tIns="0" rIns="0" bIns="0" rtlCol="0" anchor="ctr"/>
          <a:lstStyle/>
          <a:p>
            <a:pPr marL="0" indent="0">
              <a:buNone/>
            </a:pPr>
            <a:r>
              <a:rPr lang="en-US" sz="2400" b="1" dirty="0">
                <a:solidFill>
                  <a:srgbClr val="2F6FED"/>
                </a:solidFill>
                <a:latin typeface="Times New Roman" panose="02020603050405020304" pitchFamily="18" charset="0"/>
                <a:ea typeface="Calibri" panose="020F0502020204030204" pitchFamily="34" charset="-122"/>
                <a:cs typeface="Times New Roman" panose="02020603050405020304" pitchFamily="18" charset="0"/>
              </a:rPr>
              <a:t>Key idea:  </a:t>
            </a:r>
            <a:r>
              <a:rPr lang="en-US" sz="2400" dirty="0">
                <a:solidFill>
                  <a:srgbClr val="CADCFC"/>
                </a:solidFill>
                <a:latin typeface="Times New Roman" panose="02020603050405020304" pitchFamily="18" charset="0"/>
                <a:ea typeface="Calibri" panose="020F0502020204030204" pitchFamily="34" charset="-122"/>
                <a:cs typeface="Times New Roman" panose="02020603050405020304" pitchFamily="18" charset="0"/>
              </a:rPr>
              <a:t>The FSA is the engine inside the lexical analyzer — it decides, symbol by symbol, whether the text forms a valid token.</a:t>
            </a:r>
            <a:endParaRPr lang="en-US" sz="2400" dirty="0">
              <a:latin typeface="Times New Roman" panose="02020603050405020304" pitchFamily="18" charset="0"/>
              <a:cs typeface="Times New Roman" panose="02020603050405020304" pitchFamily="18" charset="0"/>
            </a:endParaRPr>
          </a:p>
        </p:txBody>
      </p:sp>
      <p:sp>
        <p:nvSpPr>
          <p:cNvPr id="35" name="Text 28"/>
          <p:cNvSpPr/>
          <p:nvPr/>
        </p:nvSpPr>
        <p:spPr>
          <a:xfrm>
            <a:off x="457200" y="6510528"/>
            <a:ext cx="7315200" cy="274320"/>
          </a:xfrm>
          <a:prstGeom prst="rect">
            <a:avLst/>
          </a:prstGeom>
          <a:noFill/>
        </p:spPr>
        <p:txBody>
          <a:bodyPr wrap="square" lIns="0" tIns="0" rIns="0" bIns="0" rtlCol="0" anchor="ctr"/>
          <a:lstStyle/>
          <a:p>
            <a:pPr marL="0" indent="0" algn="l">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Building a Finite State Automaton for Token Recognition</a:t>
            </a:r>
            <a:endParaRPr lang="en-US" sz="900" dirty="0"/>
          </a:p>
        </p:txBody>
      </p:sp>
      <p:sp>
        <p:nvSpPr>
          <p:cNvPr id="36" name="Text 29"/>
          <p:cNvSpPr/>
          <p:nvPr/>
        </p:nvSpPr>
        <p:spPr>
          <a:xfrm>
            <a:off x="11247120" y="6510528"/>
            <a:ext cx="457200" cy="274320"/>
          </a:xfrm>
          <a:prstGeom prst="rect">
            <a:avLst/>
          </a:prstGeom>
          <a:noFill/>
        </p:spPr>
        <p:txBody>
          <a:bodyPr wrap="square" lIns="0" tIns="0" rIns="0" bIns="0" rtlCol="0" anchor="ctr"/>
          <a:lstStyle/>
          <a:p>
            <a:pPr marL="0" indent="0" algn="r">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p:spPr>
        <p:txBody>
          <a:bodyPr wrap="square" lIns="0" tIns="0" rIns="0" bIns="0" rtlCol="0" anchor="ctr"/>
          <a:lstStyle/>
          <a:p>
            <a:pPr marL="0" indent="0">
              <a:buNone/>
            </a:pPr>
            <a:r>
              <a:rPr lang="en-US" sz="2800" b="1" dirty="0">
                <a:solidFill>
                  <a:srgbClr val="1B2A4A"/>
                </a:solidFill>
                <a:latin typeface="Cambria" panose="02040503050406030204" pitchFamily="34" charset="0"/>
                <a:ea typeface="Cambria" panose="02040503050406030204" pitchFamily="34" charset="-122"/>
                <a:cs typeface="Cambria" panose="02040503050406030204" pitchFamily="34" charset="-120"/>
              </a:rPr>
              <a:t>Example: Recognizing an Identifier</a:t>
            </a:r>
            <a:endParaRPr lang="en-US" sz="2800" dirty="0"/>
          </a:p>
        </p:txBody>
      </p:sp>
      <p:sp>
        <p:nvSpPr>
          <p:cNvPr id="3" name="Shape 1"/>
          <p:cNvSpPr/>
          <p:nvPr/>
        </p:nvSpPr>
        <p:spPr>
          <a:xfrm>
            <a:off x="548640" y="1188720"/>
            <a:ext cx="6035040" cy="1005840"/>
          </a:xfrm>
          <a:prstGeom prst="roundRect">
            <a:avLst>
              <a:gd name="adj" fmla="val 9091"/>
            </a:avLst>
          </a:prstGeom>
          <a:solidFill>
            <a:srgbClr val="E8F0FE"/>
          </a:solidFill>
        </p:spPr>
      </p:sp>
      <p:sp>
        <p:nvSpPr>
          <p:cNvPr id="4" name="Text 2"/>
          <p:cNvSpPr/>
          <p:nvPr/>
        </p:nvSpPr>
        <p:spPr>
          <a:xfrm>
            <a:off x="777240" y="1298448"/>
            <a:ext cx="5577840" cy="822960"/>
          </a:xfrm>
          <a:prstGeom prst="rect">
            <a:avLst/>
          </a:prstGeom>
          <a:noFill/>
        </p:spPr>
        <p:txBody>
          <a:bodyPr wrap="square" lIns="0" tIns="0" rIns="0" bIns="0" rtlCol="0" anchor="ctr"/>
          <a:lstStyle/>
          <a:p>
            <a:pPr marL="0" indent="0">
              <a:lnSpc>
                <a:spcPct val="125000"/>
              </a:lnSpc>
              <a:buNone/>
            </a:pPr>
            <a:r>
              <a:rPr lang="en-US" b="1" dirty="0">
                <a:solidFill>
                  <a:srgbClr val="1B2A4A"/>
                </a:solidFill>
                <a:latin typeface="Times New Roman" panose="02020603050405020304" pitchFamily="18" charset="0"/>
                <a:ea typeface="Calibri" panose="020F0502020204030204" pitchFamily="34" charset="-122"/>
                <a:cs typeface="Times New Roman" panose="02020603050405020304" pitchFamily="18" charset="0"/>
              </a:rPr>
              <a:t>Rule 1:  </a:t>
            </a:r>
            <a:r>
              <a:rPr lang="en-US" dirty="0">
                <a:solidFill>
                  <a:srgbClr val="5B6B8C"/>
                </a:solidFill>
                <a:latin typeface="Times New Roman" panose="02020603050405020304" pitchFamily="18" charset="0"/>
                <a:ea typeface="Calibri" panose="020F0502020204030204" pitchFamily="34" charset="-122"/>
                <a:cs typeface="Times New Roman" panose="02020603050405020304" pitchFamily="18" charset="0"/>
              </a:rPr>
              <a:t>First character must be a letter.
</a:t>
            </a:r>
            <a:r>
              <a:rPr lang="en-US" b="1" dirty="0">
                <a:solidFill>
                  <a:srgbClr val="1B2A4A"/>
                </a:solidFill>
                <a:latin typeface="Times New Roman" panose="02020603050405020304" pitchFamily="18" charset="0"/>
                <a:ea typeface="Calibri" panose="020F0502020204030204" pitchFamily="34" charset="-122"/>
                <a:cs typeface="Times New Roman" panose="02020603050405020304" pitchFamily="18" charset="0"/>
              </a:rPr>
              <a:t>Rule 2:  </a:t>
            </a:r>
            <a:r>
              <a:rPr lang="en-US" dirty="0">
                <a:solidFill>
                  <a:srgbClr val="5B6B8C"/>
                </a:solidFill>
                <a:latin typeface="Times New Roman" panose="02020603050405020304" pitchFamily="18" charset="0"/>
                <a:ea typeface="Calibri" panose="020F0502020204030204" pitchFamily="34" charset="-122"/>
                <a:cs typeface="Times New Roman" panose="02020603050405020304" pitchFamily="18" charset="0"/>
              </a:rPr>
              <a:t>Remaining characters can be letters or digits.</a:t>
            </a:r>
            <a:endParaRPr lang="en-US" dirty="0">
              <a:latin typeface="Times New Roman" panose="02020603050405020304" pitchFamily="18" charset="0"/>
              <a:cs typeface="Times New Roman" panose="02020603050405020304" pitchFamily="18" charset="0"/>
            </a:endParaRPr>
          </a:p>
        </p:txBody>
      </p:sp>
      <p:sp>
        <p:nvSpPr>
          <p:cNvPr id="5" name="Shape 3"/>
          <p:cNvSpPr/>
          <p:nvPr/>
        </p:nvSpPr>
        <p:spPr>
          <a:xfrm>
            <a:off x="640080" y="3657600"/>
            <a:ext cx="384048" cy="0"/>
          </a:xfrm>
          <a:prstGeom prst="line">
            <a:avLst/>
          </a:prstGeom>
          <a:noFill/>
          <a:ln w="19050">
            <a:solidFill>
              <a:srgbClr val="1B2A4A"/>
            </a:solidFill>
            <a:prstDash val="solid"/>
            <a:tailEnd type="triangle"/>
          </a:ln>
        </p:spPr>
      </p:sp>
      <p:sp>
        <p:nvSpPr>
          <p:cNvPr id="6" name="Text 4"/>
          <p:cNvSpPr/>
          <p:nvPr/>
        </p:nvSpPr>
        <p:spPr>
          <a:xfrm>
            <a:off x="548640" y="3291840"/>
            <a:ext cx="777240" cy="256032"/>
          </a:xfrm>
          <a:prstGeom prst="rect">
            <a:avLst/>
          </a:prstGeom>
          <a:noFill/>
        </p:spPr>
        <p:txBody>
          <a:bodyPr wrap="square" lIns="0" tIns="0" rIns="0" bIns="0" rtlCol="0" anchor="ctr"/>
          <a:lstStyle/>
          <a:p>
            <a:pPr marL="0" indent="0">
              <a:buNone/>
            </a:pPr>
            <a:r>
              <a:rPr lang="en-US" sz="950" i="1" dirty="0">
                <a:solidFill>
                  <a:srgbClr val="5B6B8C"/>
                </a:solidFill>
                <a:latin typeface="Calibri" panose="020F0502020204030204" pitchFamily="34" charset="0"/>
                <a:ea typeface="Calibri" panose="020F0502020204030204" pitchFamily="34" charset="-122"/>
                <a:cs typeface="Calibri" panose="020F0502020204030204" pitchFamily="34" charset="-120"/>
              </a:rPr>
              <a:t>start</a:t>
            </a:r>
            <a:endParaRPr lang="en-US" sz="950" dirty="0"/>
          </a:p>
        </p:txBody>
      </p:sp>
      <p:sp>
        <p:nvSpPr>
          <p:cNvPr id="7" name="Shape 5"/>
          <p:cNvSpPr/>
          <p:nvPr/>
        </p:nvSpPr>
        <p:spPr>
          <a:xfrm>
            <a:off x="1024128" y="3218688"/>
            <a:ext cx="877824" cy="877824"/>
          </a:xfrm>
          <a:prstGeom prst="ellipse">
            <a:avLst/>
          </a:prstGeom>
          <a:solidFill>
            <a:srgbClr val="FFFFFF"/>
          </a:solidFill>
          <a:ln w="25400">
            <a:solidFill>
              <a:srgbClr val="1B2A4A"/>
            </a:solidFill>
            <a:prstDash val="solid"/>
          </a:ln>
        </p:spPr>
      </p:sp>
      <p:sp>
        <p:nvSpPr>
          <p:cNvPr id="8" name="Text 6"/>
          <p:cNvSpPr/>
          <p:nvPr/>
        </p:nvSpPr>
        <p:spPr>
          <a:xfrm>
            <a:off x="1024128" y="3493008"/>
            <a:ext cx="877824" cy="329184"/>
          </a:xfrm>
          <a:prstGeom prst="rect">
            <a:avLst/>
          </a:prstGeom>
          <a:noFill/>
        </p:spPr>
        <p:txBody>
          <a:bodyPr wrap="square" lIns="0" tIns="0" rIns="0" bIns="0" rtlCol="0" anchor="ctr"/>
          <a:lstStyle/>
          <a:p>
            <a:pPr marL="0" indent="0" algn="ctr">
              <a:buNone/>
            </a:pPr>
            <a:r>
              <a:rPr lang="en-US" sz="1400" b="1" dirty="0">
                <a:solidFill>
                  <a:srgbClr val="1B2A4A"/>
                </a:solidFill>
                <a:latin typeface="Calibri" panose="020F0502020204030204" pitchFamily="34" charset="0"/>
                <a:ea typeface="Calibri" panose="020F0502020204030204" pitchFamily="34" charset="-122"/>
                <a:cs typeface="Calibri" panose="020F0502020204030204" pitchFamily="34" charset="-120"/>
              </a:rPr>
              <a:t>q0</a:t>
            </a:r>
            <a:endParaRPr lang="en-US" sz="1400" dirty="0"/>
          </a:p>
        </p:txBody>
      </p:sp>
      <p:sp>
        <p:nvSpPr>
          <p:cNvPr id="9" name="Shape 7"/>
          <p:cNvSpPr/>
          <p:nvPr/>
        </p:nvSpPr>
        <p:spPr>
          <a:xfrm>
            <a:off x="1901952" y="3657600"/>
            <a:ext cx="768096" cy="0"/>
          </a:xfrm>
          <a:prstGeom prst="line">
            <a:avLst/>
          </a:prstGeom>
          <a:noFill/>
          <a:ln w="19050">
            <a:solidFill>
              <a:srgbClr val="2F6FED"/>
            </a:solidFill>
            <a:prstDash val="solid"/>
            <a:tailEnd type="triangle"/>
          </a:ln>
        </p:spPr>
      </p:sp>
      <p:sp>
        <p:nvSpPr>
          <p:cNvPr id="10" name="Text 8"/>
          <p:cNvSpPr/>
          <p:nvPr/>
        </p:nvSpPr>
        <p:spPr>
          <a:xfrm>
            <a:off x="1947672" y="3273552"/>
            <a:ext cx="1005840" cy="256032"/>
          </a:xfrm>
          <a:prstGeom prst="rect">
            <a:avLst/>
          </a:prstGeom>
          <a:noFill/>
        </p:spPr>
        <p:txBody>
          <a:bodyPr wrap="square" lIns="0" tIns="0" rIns="0" bIns="0" rtlCol="0" anchor="ctr"/>
          <a:lstStyle/>
          <a:p>
            <a:pPr marL="0" indent="0">
              <a:buNone/>
            </a:pPr>
            <a:r>
              <a:rPr lang="en-US" sz="1000" i="1" dirty="0">
                <a:solidFill>
                  <a:srgbClr val="5B6B8C"/>
                </a:solidFill>
                <a:latin typeface="Calibri" panose="020F0502020204030204" pitchFamily="34" charset="0"/>
                <a:ea typeface="Calibri" panose="020F0502020204030204" pitchFamily="34" charset="-122"/>
                <a:cs typeface="Calibri" panose="020F0502020204030204" pitchFamily="34" charset="-120"/>
              </a:rPr>
              <a:t>letter</a:t>
            </a:r>
            <a:endParaRPr lang="en-US" sz="1000" dirty="0"/>
          </a:p>
        </p:txBody>
      </p:sp>
      <p:sp>
        <p:nvSpPr>
          <p:cNvPr id="11" name="Shape 9"/>
          <p:cNvSpPr/>
          <p:nvPr/>
        </p:nvSpPr>
        <p:spPr>
          <a:xfrm>
            <a:off x="2670048" y="3218688"/>
            <a:ext cx="877824" cy="877824"/>
          </a:xfrm>
          <a:prstGeom prst="ellipse">
            <a:avLst/>
          </a:prstGeom>
          <a:solidFill>
            <a:srgbClr val="2F6FED"/>
          </a:solidFill>
          <a:ln w="25400">
            <a:solidFill>
              <a:srgbClr val="1B2A4A"/>
            </a:solidFill>
            <a:prstDash val="solid"/>
          </a:ln>
        </p:spPr>
      </p:sp>
      <p:sp>
        <p:nvSpPr>
          <p:cNvPr id="12" name="Shape 10"/>
          <p:cNvSpPr/>
          <p:nvPr/>
        </p:nvSpPr>
        <p:spPr>
          <a:xfrm>
            <a:off x="2752344" y="3300984"/>
            <a:ext cx="713232" cy="713232"/>
          </a:xfrm>
          <a:prstGeom prst="ellipse">
            <a:avLst/>
          </a:prstGeom>
          <a:ln w="16510">
            <a:solidFill>
              <a:srgbClr val="FFFFFF"/>
            </a:solidFill>
            <a:prstDash val="solid"/>
          </a:ln>
        </p:spPr>
      </p:sp>
      <p:sp>
        <p:nvSpPr>
          <p:cNvPr id="13" name="Text 11"/>
          <p:cNvSpPr/>
          <p:nvPr/>
        </p:nvSpPr>
        <p:spPr>
          <a:xfrm>
            <a:off x="2670048" y="3493008"/>
            <a:ext cx="877824" cy="329184"/>
          </a:xfrm>
          <a:prstGeom prst="rect">
            <a:avLst/>
          </a:prstGeom>
          <a:noFill/>
        </p:spPr>
        <p:txBody>
          <a:bodyPr wrap="square" lIns="0" tIns="0" rIns="0" bIns="0"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q1</a:t>
            </a:r>
            <a:endParaRPr lang="en-US" sz="1400" dirty="0"/>
          </a:p>
        </p:txBody>
      </p:sp>
      <p:sp>
        <p:nvSpPr>
          <p:cNvPr id="14" name="Text 12"/>
          <p:cNvSpPr/>
          <p:nvPr/>
        </p:nvSpPr>
        <p:spPr>
          <a:xfrm>
            <a:off x="2651760" y="4169664"/>
            <a:ext cx="1097280" cy="237744"/>
          </a:xfrm>
          <a:prstGeom prst="rect">
            <a:avLst/>
          </a:prstGeom>
          <a:noFill/>
        </p:spPr>
        <p:txBody>
          <a:bodyPr wrap="square" lIns="0" tIns="0" rIns="0" bIns="0" rtlCol="0" anchor="ctr"/>
          <a:lstStyle/>
          <a:p>
            <a:pPr marL="0" indent="0" algn="ctr">
              <a:buNone/>
            </a:pPr>
            <a:r>
              <a:rPr lang="en-US" sz="900" i="1" dirty="0">
                <a:solidFill>
                  <a:srgbClr val="1B2A4A"/>
                </a:solidFill>
                <a:latin typeface="Calibri" panose="020F0502020204030204" pitchFamily="34" charset="0"/>
                <a:ea typeface="Calibri" panose="020F0502020204030204" pitchFamily="34" charset="-122"/>
                <a:cs typeface="Calibri" panose="020F0502020204030204" pitchFamily="34" charset="-120"/>
              </a:rPr>
              <a:t>(final)</a:t>
            </a:r>
            <a:endParaRPr lang="en-US" sz="900" dirty="0"/>
          </a:p>
        </p:txBody>
      </p:sp>
      <p:sp>
        <p:nvSpPr>
          <p:cNvPr id="15" name="Shape 13"/>
          <p:cNvSpPr/>
          <p:nvPr/>
        </p:nvSpPr>
        <p:spPr>
          <a:xfrm>
            <a:off x="2761488" y="2651760"/>
            <a:ext cx="694944" cy="566928"/>
          </a:xfrm>
          <a:prstGeom prst="arc">
            <a:avLst>
              <a:gd name="adj1" fmla="val 12000000"/>
              <a:gd name="adj2" fmla="val 20400000"/>
            </a:avLst>
          </a:prstGeom>
          <a:noFill/>
          <a:ln w="19050">
            <a:solidFill>
              <a:srgbClr val="2F6FED"/>
            </a:solidFill>
            <a:prstDash val="solid"/>
            <a:tailEnd type="triangle"/>
          </a:ln>
        </p:spPr>
      </p:sp>
      <p:sp>
        <p:nvSpPr>
          <p:cNvPr id="16" name="Text 14"/>
          <p:cNvSpPr/>
          <p:nvPr/>
        </p:nvSpPr>
        <p:spPr>
          <a:xfrm>
            <a:off x="2423160" y="2395728"/>
            <a:ext cx="1371600" cy="237744"/>
          </a:xfrm>
          <a:prstGeom prst="rect">
            <a:avLst/>
          </a:prstGeom>
          <a:noFill/>
        </p:spPr>
        <p:txBody>
          <a:bodyPr wrap="square" lIns="0" tIns="0" rIns="0" bIns="0" rtlCol="0" anchor="ctr"/>
          <a:lstStyle/>
          <a:p>
            <a:pPr marL="0" indent="0" algn="ctr">
              <a:buNone/>
            </a:pPr>
            <a:r>
              <a:rPr lang="en-US" sz="950" i="1" dirty="0">
                <a:solidFill>
                  <a:srgbClr val="5B6B8C"/>
                </a:solidFill>
                <a:latin typeface="Calibri" panose="020F0502020204030204" pitchFamily="34" charset="0"/>
                <a:ea typeface="Calibri" panose="020F0502020204030204" pitchFamily="34" charset="-122"/>
                <a:cs typeface="Calibri" panose="020F0502020204030204" pitchFamily="34" charset="-120"/>
              </a:rPr>
              <a:t>letter or digit</a:t>
            </a:r>
            <a:endParaRPr lang="en-US" sz="950" dirty="0"/>
          </a:p>
        </p:txBody>
      </p:sp>
      <p:sp>
        <p:nvSpPr>
          <p:cNvPr id="17" name="Text 15"/>
          <p:cNvSpPr/>
          <p:nvPr/>
        </p:nvSpPr>
        <p:spPr>
          <a:xfrm>
            <a:off x="548640" y="4526280"/>
            <a:ext cx="5943600" cy="320040"/>
          </a:xfrm>
          <a:prstGeom prst="rect">
            <a:avLst/>
          </a:prstGeom>
          <a:noFill/>
        </p:spPr>
        <p:txBody>
          <a:bodyPr wrap="square" lIns="0" tIns="0" rIns="0" bIns="0" rtlCol="0" anchor="ctr"/>
          <a:lstStyle/>
          <a:p>
            <a:pPr marL="0" indent="0">
              <a:buNone/>
            </a:pPr>
            <a:r>
              <a:rPr lang="en-US" i="1" dirty="0">
                <a:solidFill>
                  <a:srgbClr val="D64545"/>
                </a:solidFill>
                <a:latin typeface="Times New Roman" panose="02020603050405020304" pitchFamily="18" charset="0"/>
                <a:ea typeface="Calibri" panose="020F0502020204030204" pitchFamily="34" charset="-122"/>
                <a:cs typeface="Times New Roman" panose="02020603050405020304" pitchFamily="18" charset="0"/>
              </a:rPr>
              <a:t>Any other symbol as the first character → Reject</a:t>
            </a:r>
            <a:endParaRPr lang="en-US" dirty="0">
              <a:latin typeface="Times New Roman" panose="02020603050405020304" pitchFamily="18" charset="0"/>
              <a:cs typeface="Times New Roman" panose="02020603050405020304" pitchFamily="18" charset="0"/>
            </a:endParaRPr>
          </a:p>
        </p:txBody>
      </p:sp>
      <p:sp>
        <p:nvSpPr>
          <p:cNvPr id="18" name="Text 16"/>
          <p:cNvSpPr/>
          <p:nvPr/>
        </p:nvSpPr>
        <p:spPr>
          <a:xfrm>
            <a:off x="6903720" y="1188720"/>
            <a:ext cx="3657600" cy="320040"/>
          </a:xfrm>
          <a:prstGeom prst="rect">
            <a:avLst/>
          </a:prstGeom>
          <a:noFill/>
        </p:spPr>
        <p:txBody>
          <a:bodyPr wrap="square" lIns="0" tIns="0" rIns="0" bIns="0" rtlCol="0" anchor="ctr"/>
          <a:lstStyle/>
          <a:p>
            <a:pPr marL="0" indent="0">
              <a:buNone/>
            </a:pPr>
            <a:r>
              <a:rPr lang="en-US" sz="1400" b="1" dirty="0">
                <a:solidFill>
                  <a:srgbClr val="1B2A4A"/>
                </a:solidFill>
                <a:latin typeface="Calibri" panose="020F0502020204030204" pitchFamily="34" charset="0"/>
                <a:ea typeface="Calibri" panose="020F0502020204030204" pitchFamily="34" charset="-122"/>
                <a:cs typeface="Calibri" panose="020F0502020204030204" pitchFamily="34" charset="-120"/>
              </a:rPr>
              <a:t>Sample Inputs</a:t>
            </a:r>
            <a:endParaRPr lang="en-US" sz="1400" dirty="0"/>
          </a:p>
        </p:txBody>
      </p:sp>
      <p:sp>
        <p:nvSpPr>
          <p:cNvPr id="19" name="Shape 17"/>
          <p:cNvSpPr/>
          <p:nvPr/>
        </p:nvSpPr>
        <p:spPr>
          <a:xfrm>
            <a:off x="6903720" y="1600200"/>
            <a:ext cx="4709160" cy="640080"/>
          </a:xfrm>
          <a:prstGeom prst="roundRect">
            <a:avLst>
              <a:gd name="adj" fmla="val 11429"/>
            </a:avLst>
          </a:prstGeom>
          <a:solidFill>
            <a:srgbClr val="EAF7EE"/>
          </a:solidFill>
        </p:spPr>
      </p:sp>
      <p:sp>
        <p:nvSpPr>
          <p:cNvPr id="20" name="Text 18"/>
          <p:cNvSpPr/>
          <p:nvPr/>
        </p:nvSpPr>
        <p:spPr>
          <a:xfrm>
            <a:off x="7132320" y="1709928"/>
            <a:ext cx="3017520" cy="420624"/>
          </a:xfrm>
          <a:prstGeom prst="rect">
            <a:avLst/>
          </a:prstGeom>
          <a:noFill/>
        </p:spPr>
        <p:txBody>
          <a:bodyPr wrap="square" lIns="0" tIns="0" rIns="0" bIns="0" rtlCol="0" anchor="ctr"/>
          <a:lstStyle/>
          <a:p>
            <a:pPr marL="0" indent="0">
              <a:buNone/>
            </a:pPr>
            <a:r>
              <a:rPr lang="en-US" sz="1600" b="1" dirty="0">
                <a:solidFill>
                  <a:srgbClr val="1B2A4A"/>
                </a:solidFill>
                <a:latin typeface="Courier New" panose="02070309020205020404" pitchFamily="34" charset="0"/>
                <a:ea typeface="Courier New" panose="02070309020205020404" pitchFamily="34" charset="-122"/>
                <a:cs typeface="Courier New" panose="02070309020205020404" pitchFamily="34" charset="-120"/>
              </a:rPr>
              <a:t>abc123</a:t>
            </a:r>
            <a:endParaRPr lang="en-US" sz="1600" dirty="0"/>
          </a:p>
        </p:txBody>
      </p:sp>
      <p:sp>
        <p:nvSpPr>
          <p:cNvPr id="21" name="Shape 19"/>
          <p:cNvSpPr/>
          <p:nvPr/>
        </p:nvSpPr>
        <p:spPr>
          <a:xfrm>
            <a:off x="10972800" y="1719072"/>
            <a:ext cx="402336" cy="402336"/>
          </a:xfrm>
          <a:prstGeom prst="ellipse">
            <a:avLst/>
          </a:prstGeom>
          <a:solidFill>
            <a:srgbClr val="1F9D55"/>
          </a:solidFill>
        </p:spPr>
      </p:sp>
      <p:pic>
        <p:nvPicPr>
          <p:cNvPr id="22" name="Image 0" descr="icons/check_white.png"/>
          <p:cNvPicPr>
            <a:picLocks noChangeAspect="1"/>
          </p:cNvPicPr>
          <p:nvPr/>
        </p:nvPicPr>
        <p:blipFill>
          <a:blip r:embed="rId3"/>
          <a:stretch>
            <a:fillRect/>
          </a:stretch>
        </p:blipFill>
        <p:spPr>
          <a:xfrm>
            <a:off x="11053267" y="1799539"/>
            <a:ext cx="241402" cy="241402"/>
          </a:xfrm>
          <a:prstGeom prst="rect">
            <a:avLst/>
          </a:prstGeom>
        </p:spPr>
      </p:pic>
      <p:sp>
        <p:nvSpPr>
          <p:cNvPr id="23" name="Shape 20"/>
          <p:cNvSpPr/>
          <p:nvPr/>
        </p:nvSpPr>
        <p:spPr>
          <a:xfrm>
            <a:off x="6903720" y="2423160"/>
            <a:ext cx="4709160" cy="640080"/>
          </a:xfrm>
          <a:prstGeom prst="roundRect">
            <a:avLst>
              <a:gd name="adj" fmla="val 11429"/>
            </a:avLst>
          </a:prstGeom>
          <a:solidFill>
            <a:srgbClr val="EAF7EE"/>
          </a:solidFill>
        </p:spPr>
      </p:sp>
      <p:sp>
        <p:nvSpPr>
          <p:cNvPr id="24" name="Text 21"/>
          <p:cNvSpPr/>
          <p:nvPr/>
        </p:nvSpPr>
        <p:spPr>
          <a:xfrm>
            <a:off x="7132320" y="2532888"/>
            <a:ext cx="3017520" cy="420624"/>
          </a:xfrm>
          <a:prstGeom prst="rect">
            <a:avLst/>
          </a:prstGeom>
          <a:noFill/>
        </p:spPr>
        <p:txBody>
          <a:bodyPr wrap="square" lIns="0" tIns="0" rIns="0" bIns="0" rtlCol="0" anchor="ctr"/>
          <a:lstStyle/>
          <a:p>
            <a:pPr marL="0" indent="0">
              <a:buNone/>
            </a:pPr>
            <a:r>
              <a:rPr lang="en-US" sz="1600" b="1" dirty="0">
                <a:solidFill>
                  <a:srgbClr val="1B2A4A"/>
                </a:solidFill>
                <a:latin typeface="Courier New" panose="02070309020205020404" pitchFamily="34" charset="0"/>
                <a:ea typeface="Courier New" panose="02070309020205020404" pitchFamily="34" charset="-122"/>
                <a:cs typeface="Courier New" panose="02070309020205020404" pitchFamily="34" charset="-120"/>
              </a:rPr>
              <a:t>student1</a:t>
            </a:r>
            <a:endParaRPr lang="en-US" sz="1600" dirty="0"/>
          </a:p>
        </p:txBody>
      </p:sp>
      <p:sp>
        <p:nvSpPr>
          <p:cNvPr id="25" name="Shape 22"/>
          <p:cNvSpPr/>
          <p:nvPr/>
        </p:nvSpPr>
        <p:spPr>
          <a:xfrm>
            <a:off x="10972800" y="2542032"/>
            <a:ext cx="402336" cy="402336"/>
          </a:xfrm>
          <a:prstGeom prst="ellipse">
            <a:avLst/>
          </a:prstGeom>
          <a:solidFill>
            <a:srgbClr val="1F9D55"/>
          </a:solidFill>
        </p:spPr>
      </p:sp>
      <p:pic>
        <p:nvPicPr>
          <p:cNvPr id="26" name="Image 1" descr="icons/check_white.png"/>
          <p:cNvPicPr>
            <a:picLocks noChangeAspect="1"/>
          </p:cNvPicPr>
          <p:nvPr/>
        </p:nvPicPr>
        <p:blipFill>
          <a:blip r:embed="rId3"/>
          <a:stretch>
            <a:fillRect/>
          </a:stretch>
        </p:blipFill>
        <p:spPr>
          <a:xfrm>
            <a:off x="11053267" y="2622499"/>
            <a:ext cx="241402" cy="241402"/>
          </a:xfrm>
          <a:prstGeom prst="rect">
            <a:avLst/>
          </a:prstGeom>
        </p:spPr>
      </p:pic>
      <p:sp>
        <p:nvSpPr>
          <p:cNvPr id="27" name="Shape 23"/>
          <p:cNvSpPr/>
          <p:nvPr/>
        </p:nvSpPr>
        <p:spPr>
          <a:xfrm>
            <a:off x="6903720" y="3246120"/>
            <a:ext cx="4709160" cy="640080"/>
          </a:xfrm>
          <a:prstGeom prst="roundRect">
            <a:avLst>
              <a:gd name="adj" fmla="val 11429"/>
            </a:avLst>
          </a:prstGeom>
          <a:solidFill>
            <a:srgbClr val="FCEAEA"/>
          </a:solidFill>
        </p:spPr>
      </p:sp>
      <p:sp>
        <p:nvSpPr>
          <p:cNvPr id="28" name="Text 24"/>
          <p:cNvSpPr/>
          <p:nvPr/>
        </p:nvSpPr>
        <p:spPr>
          <a:xfrm>
            <a:off x="7132320" y="3355848"/>
            <a:ext cx="3017520" cy="420624"/>
          </a:xfrm>
          <a:prstGeom prst="rect">
            <a:avLst/>
          </a:prstGeom>
          <a:noFill/>
        </p:spPr>
        <p:txBody>
          <a:bodyPr wrap="square" lIns="0" tIns="0" rIns="0" bIns="0" rtlCol="0" anchor="ctr"/>
          <a:lstStyle/>
          <a:p>
            <a:pPr marL="0" indent="0">
              <a:buNone/>
            </a:pPr>
            <a:r>
              <a:rPr lang="en-US" sz="1600" b="1" dirty="0">
                <a:solidFill>
                  <a:srgbClr val="1B2A4A"/>
                </a:solidFill>
                <a:latin typeface="Courier New" panose="02070309020205020404" pitchFamily="34" charset="0"/>
                <a:ea typeface="Courier New" panose="02070309020205020404" pitchFamily="34" charset="-122"/>
                <a:cs typeface="Courier New" panose="02070309020205020404" pitchFamily="34" charset="-120"/>
              </a:rPr>
              <a:t>123abc</a:t>
            </a:r>
            <a:endParaRPr lang="en-US" sz="1600" dirty="0"/>
          </a:p>
        </p:txBody>
      </p:sp>
      <p:sp>
        <p:nvSpPr>
          <p:cNvPr id="29" name="Shape 25"/>
          <p:cNvSpPr/>
          <p:nvPr/>
        </p:nvSpPr>
        <p:spPr>
          <a:xfrm>
            <a:off x="10972800" y="3364992"/>
            <a:ext cx="402336" cy="402336"/>
          </a:xfrm>
          <a:prstGeom prst="ellipse">
            <a:avLst/>
          </a:prstGeom>
          <a:solidFill>
            <a:srgbClr val="D64545"/>
          </a:solidFill>
        </p:spPr>
      </p:sp>
      <p:pic>
        <p:nvPicPr>
          <p:cNvPr id="30" name="Image 2" descr="icons/times_white.png"/>
          <p:cNvPicPr>
            <a:picLocks noChangeAspect="1"/>
          </p:cNvPicPr>
          <p:nvPr/>
        </p:nvPicPr>
        <p:blipFill>
          <a:blip r:embed="rId4"/>
          <a:stretch>
            <a:fillRect/>
          </a:stretch>
        </p:blipFill>
        <p:spPr>
          <a:xfrm>
            <a:off x="11053267" y="3445459"/>
            <a:ext cx="241402" cy="241402"/>
          </a:xfrm>
          <a:prstGeom prst="rect">
            <a:avLst/>
          </a:prstGeom>
        </p:spPr>
      </p:pic>
      <p:sp>
        <p:nvSpPr>
          <p:cNvPr id="31" name="Shape 26"/>
          <p:cNvSpPr/>
          <p:nvPr/>
        </p:nvSpPr>
        <p:spPr>
          <a:xfrm>
            <a:off x="6903720" y="4160520"/>
            <a:ext cx="4709160" cy="1508760"/>
          </a:xfrm>
          <a:prstGeom prst="roundRect">
            <a:avLst>
              <a:gd name="adj" fmla="val 6061"/>
            </a:avLst>
          </a:prstGeom>
          <a:solidFill>
            <a:srgbClr val="1B2A4A"/>
          </a:solidFill>
        </p:spPr>
      </p:sp>
      <p:sp>
        <p:nvSpPr>
          <p:cNvPr id="32" name="Text 27"/>
          <p:cNvSpPr/>
          <p:nvPr/>
        </p:nvSpPr>
        <p:spPr>
          <a:xfrm>
            <a:off x="7132320" y="4325112"/>
            <a:ext cx="4251960" cy="274320"/>
          </a:xfrm>
          <a:prstGeom prst="rect">
            <a:avLst/>
          </a:prstGeom>
          <a:noFill/>
        </p:spPr>
        <p:txBody>
          <a:bodyPr wrap="square" lIns="0" tIns="0" rIns="0" bIns="0" rtlCol="0" anchor="ctr"/>
          <a:lstStyle/>
          <a:p>
            <a:pPr marL="0" indent="0">
              <a:buNone/>
            </a:pPr>
            <a:r>
              <a:rPr lang="en-US" sz="1600" b="1" dirty="0">
                <a:solidFill>
                  <a:srgbClr val="2F6FED"/>
                </a:solidFill>
                <a:latin typeface="Calibri" panose="020F0502020204030204" pitchFamily="34" charset="0"/>
                <a:ea typeface="Calibri" panose="020F0502020204030204" pitchFamily="34" charset="-122"/>
                <a:cs typeface="Calibri" panose="020F0502020204030204" pitchFamily="34" charset="-120"/>
              </a:rPr>
              <a:t>Why 123abc fails:</a:t>
            </a:r>
            <a:endParaRPr lang="en-US" sz="1600" dirty="0"/>
          </a:p>
        </p:txBody>
      </p:sp>
      <p:sp>
        <p:nvSpPr>
          <p:cNvPr id="33" name="Text 28"/>
          <p:cNvSpPr/>
          <p:nvPr/>
        </p:nvSpPr>
        <p:spPr>
          <a:xfrm>
            <a:off x="7132320" y="4617720"/>
            <a:ext cx="4251960" cy="960120"/>
          </a:xfrm>
          <a:prstGeom prst="rect">
            <a:avLst/>
          </a:prstGeom>
          <a:noFill/>
        </p:spPr>
        <p:txBody>
          <a:bodyPr wrap="square" lIns="0" tIns="0" rIns="0" bIns="0" rtlCol="0" anchor="ctr"/>
          <a:lstStyle/>
          <a:p>
            <a:pPr marL="0" indent="0">
              <a:lnSpc>
                <a:spcPct val="115000"/>
              </a:lnSpc>
              <a:buNone/>
            </a:pPr>
            <a:r>
              <a:rPr lang="en-US" dirty="0">
                <a:solidFill>
                  <a:srgbClr val="CADCFC"/>
                </a:solidFill>
                <a:latin typeface="Times New Roman" panose="02020603050405020304" pitchFamily="18" charset="0"/>
                <a:ea typeface="Calibri" panose="020F0502020204030204" pitchFamily="34" charset="-122"/>
                <a:cs typeface="Times New Roman" panose="02020603050405020304" pitchFamily="18" charset="0"/>
              </a:rPr>
              <a:t>It starts with a digit. Since q0 only accepts a letter to move forward, the automaton has no valid transition — the string is rejected.</a:t>
            </a:r>
            <a:endParaRPr lang="en-US" dirty="0">
              <a:latin typeface="Times New Roman" panose="02020603050405020304" pitchFamily="18" charset="0"/>
              <a:cs typeface="Times New Roman" panose="02020603050405020304" pitchFamily="18" charset="0"/>
            </a:endParaRPr>
          </a:p>
        </p:txBody>
      </p:sp>
      <p:sp>
        <p:nvSpPr>
          <p:cNvPr id="34" name="Text 29"/>
          <p:cNvSpPr/>
          <p:nvPr/>
        </p:nvSpPr>
        <p:spPr>
          <a:xfrm>
            <a:off x="457200" y="6510528"/>
            <a:ext cx="7315200" cy="274320"/>
          </a:xfrm>
          <a:prstGeom prst="rect">
            <a:avLst/>
          </a:prstGeom>
          <a:noFill/>
        </p:spPr>
        <p:txBody>
          <a:bodyPr wrap="square" lIns="0" tIns="0" rIns="0" bIns="0" rtlCol="0" anchor="ctr"/>
          <a:lstStyle/>
          <a:p>
            <a:pPr marL="0" indent="0" algn="l">
              <a:buNone/>
            </a:pPr>
            <a:r>
              <a:rPr lang="en-US" sz="900" dirty="0">
                <a:solidFill>
                  <a:srgbClr val="5B6B8C"/>
                </a:solidFill>
                <a:latin typeface="Calibri" panose="020F0502020204030204" pitchFamily="34" charset="0"/>
                <a:ea typeface="Calibri" panose="020F0502020204030204" pitchFamily="34" charset="-122"/>
                <a:cs typeface="Calibri" panose="020F0502020204030204" pitchFamily="34" charset="-120"/>
              </a:rPr>
              <a:t>Building a Finite State Automaton for Token Recognition</a:t>
            </a:r>
            <a:endParaRPr lang="en-US" sz="900" dirty="0"/>
          </a:p>
        </p:txBody>
      </p:sp>
      <p:sp>
        <p:nvSpPr>
          <p:cNvPr id="35" name="Text 30"/>
          <p:cNvSpPr/>
          <p:nvPr/>
        </p:nvSpPr>
        <p:spPr>
          <a:xfrm>
            <a:off x="11247120" y="6510528"/>
            <a:ext cx="457200" cy="274320"/>
          </a:xfrm>
          <a:prstGeom prst="rect">
            <a:avLst/>
          </a:prstGeom>
          <a:noFill/>
        </p:spPr>
        <p:txBody>
          <a:bodyPr wrap="square" lIns="0" tIns="0" rIns="0" bIns="0" rtlCol="0" anchor="ctr"/>
          <a:lstStyle/>
          <a:p>
            <a:pPr marL="0" indent="0" algn="r">
              <a:buNone/>
            </a:pPr>
            <a:r>
              <a:rPr lang="en-US" sz="900" dirty="0">
                <a:solidFill>
                  <a:srgbClr val="5B6B8C"/>
                </a:solidFill>
                <a:latin typeface="Calibri" panose="020F0502020204030204" pitchFamily="34" charset="0"/>
                <a:ea typeface="Calibri" panose="020F0502020204030204" pitchFamily="34" charset="-122"/>
                <a:cs typeface="Calibri" panose="020F0502020204030204"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640080"/>
          </a:xfrm>
          <a:prstGeom prst="rect">
            <a:avLst/>
          </a:prstGeom>
          <a:noFill/>
        </p:spPr>
        <p:txBody>
          <a:bodyPr wrap="square" lIns="0" tIns="0" rIns="0" bIns="0" rtlCol="0" anchor="ctr"/>
          <a:lstStyle/>
          <a:p>
            <a:pPr marL="0" indent="0">
              <a:buNone/>
            </a:pPr>
            <a:r>
              <a:rPr lang="en-US" sz="3000" b="1" dirty="0">
                <a:solidFill>
                  <a:srgbClr val="1B2A4A"/>
                </a:solidFill>
                <a:latin typeface="Cambria" panose="02040503050406030204" pitchFamily="34" charset="0"/>
                <a:ea typeface="Cambria" panose="02040503050406030204" pitchFamily="34" charset="-122"/>
                <a:cs typeface="Cambria" panose="02040503050406030204" pitchFamily="34" charset="-120"/>
              </a:rPr>
              <a:t>Advantages &amp; Applications</a:t>
            </a:r>
            <a:endParaRPr lang="en-US" sz="3000" dirty="0"/>
          </a:p>
        </p:txBody>
      </p:sp>
      <p:sp>
        <p:nvSpPr>
          <p:cNvPr id="3" name="Shape 1"/>
          <p:cNvSpPr/>
          <p:nvPr/>
        </p:nvSpPr>
        <p:spPr>
          <a:xfrm>
            <a:off x="548640" y="1371600"/>
            <a:ext cx="3931920" cy="4800600"/>
          </a:xfrm>
          <a:prstGeom prst="roundRect">
            <a:avLst>
              <a:gd name="adj" fmla="val 2791"/>
            </a:avLst>
          </a:prstGeom>
          <a:solidFill>
            <a:srgbClr val="1B2A4A"/>
          </a:solidFill>
        </p:spPr>
      </p:sp>
      <p:sp>
        <p:nvSpPr>
          <p:cNvPr id="4" name="Text 2"/>
          <p:cNvSpPr/>
          <p:nvPr/>
        </p:nvSpPr>
        <p:spPr>
          <a:xfrm>
            <a:off x="822960" y="1572768"/>
            <a:ext cx="3383280" cy="365760"/>
          </a:xfrm>
          <a:prstGeom prst="rect">
            <a:avLst/>
          </a:prstGeom>
          <a:noFill/>
        </p:spPr>
        <p:txBody>
          <a:bodyPr wrap="square" lIns="0" tIns="0" rIns="0" bIns="0" rtlCol="0" anchor="ctr"/>
          <a:lstStyle/>
          <a:p>
            <a:pPr marL="0" indent="0">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Advantages</a:t>
            </a:r>
            <a:endParaRPr lang="en-US" sz="1600" dirty="0"/>
          </a:p>
        </p:txBody>
      </p:sp>
      <p:sp>
        <p:nvSpPr>
          <p:cNvPr id="5" name="Shape 3"/>
          <p:cNvSpPr/>
          <p:nvPr/>
        </p:nvSpPr>
        <p:spPr>
          <a:xfrm>
            <a:off x="822960" y="2103120"/>
            <a:ext cx="502920" cy="502920"/>
          </a:xfrm>
          <a:prstGeom prst="ellipse">
            <a:avLst/>
          </a:prstGeom>
          <a:solidFill>
            <a:srgbClr val="E8F0FE"/>
          </a:solidFill>
        </p:spPr>
      </p:sp>
      <p:pic>
        <p:nvPicPr>
          <p:cNvPr id="6" name="Image 0" descr="icons/bolt_navy.png"/>
          <p:cNvPicPr>
            <a:picLocks noChangeAspect="1"/>
          </p:cNvPicPr>
          <p:nvPr/>
        </p:nvPicPr>
        <p:blipFill>
          <a:blip r:embed="rId3"/>
          <a:stretch>
            <a:fillRect/>
          </a:stretch>
        </p:blipFill>
        <p:spPr>
          <a:xfrm>
            <a:off x="936117" y="2216277"/>
            <a:ext cx="276606" cy="276606"/>
          </a:xfrm>
          <a:prstGeom prst="rect">
            <a:avLst/>
          </a:prstGeom>
        </p:spPr>
      </p:pic>
      <p:sp>
        <p:nvSpPr>
          <p:cNvPr id="7" name="Text 4"/>
          <p:cNvSpPr/>
          <p:nvPr/>
        </p:nvSpPr>
        <p:spPr>
          <a:xfrm>
            <a:off x="1481328" y="2103120"/>
            <a:ext cx="2834640" cy="274320"/>
          </a:xfrm>
          <a:prstGeom prst="rect">
            <a:avLst/>
          </a:prstGeom>
          <a:noFill/>
        </p:spPr>
        <p:txBody>
          <a:bodyPr wrap="square" lIns="0" tIns="0" rIns="0" bIns="0" rtlCol="0" anchor="ctr"/>
          <a:lstStyle/>
          <a:p>
            <a:pPr marL="0" indent="0">
              <a:buNone/>
            </a:pPr>
            <a:r>
              <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rPr>
              <a:t>Fast</a:t>
            </a:r>
            <a:endParaRPr lang="en-US" dirty="0"/>
          </a:p>
        </p:txBody>
      </p:sp>
      <p:sp>
        <p:nvSpPr>
          <p:cNvPr id="8" name="Text 5"/>
          <p:cNvSpPr/>
          <p:nvPr/>
        </p:nvSpPr>
        <p:spPr>
          <a:xfrm>
            <a:off x="1481328" y="2368296"/>
            <a:ext cx="2834640" cy="320040"/>
          </a:xfrm>
          <a:prstGeom prst="rect">
            <a:avLst/>
          </a:prstGeom>
          <a:noFill/>
        </p:spPr>
        <p:txBody>
          <a:bodyPr wrap="square" lIns="0" tIns="0" rIns="0" bIns="0" rtlCol="0" anchor="ctr"/>
          <a:lstStyle/>
          <a:p>
            <a:pPr marL="0" indent="0">
              <a:buNone/>
            </a:pPr>
            <a:r>
              <a:rPr lang="en-US" dirty="0">
                <a:solidFill>
                  <a:srgbClr val="CADCFC"/>
                </a:solidFill>
                <a:latin typeface="Calibri" panose="020F0502020204030204" pitchFamily="34" charset="0"/>
                <a:ea typeface="Calibri" panose="020F0502020204030204" pitchFamily="34" charset="-122"/>
                <a:cs typeface="Calibri" panose="020F0502020204030204" pitchFamily="34" charset="-120"/>
              </a:rPr>
              <a:t>Processes input in a single pass</a:t>
            </a:r>
            <a:endParaRPr lang="en-US" dirty="0"/>
          </a:p>
        </p:txBody>
      </p:sp>
      <p:sp>
        <p:nvSpPr>
          <p:cNvPr id="9" name="Shape 6"/>
          <p:cNvSpPr/>
          <p:nvPr/>
        </p:nvSpPr>
        <p:spPr>
          <a:xfrm>
            <a:off x="822960" y="3017520"/>
            <a:ext cx="502920" cy="502920"/>
          </a:xfrm>
          <a:prstGeom prst="ellipse">
            <a:avLst/>
          </a:prstGeom>
          <a:solidFill>
            <a:srgbClr val="E8F0FE"/>
          </a:solidFill>
        </p:spPr>
      </p:sp>
      <p:pic>
        <p:nvPicPr>
          <p:cNvPr id="10" name="Image 1" descr="icons/gauge_navy.png"/>
          <p:cNvPicPr>
            <a:picLocks noChangeAspect="1"/>
          </p:cNvPicPr>
          <p:nvPr/>
        </p:nvPicPr>
        <p:blipFill>
          <a:blip r:embed="rId4"/>
          <a:stretch>
            <a:fillRect/>
          </a:stretch>
        </p:blipFill>
        <p:spPr>
          <a:xfrm>
            <a:off x="936117" y="3130677"/>
            <a:ext cx="276606" cy="276606"/>
          </a:xfrm>
          <a:prstGeom prst="rect">
            <a:avLst/>
          </a:prstGeom>
        </p:spPr>
      </p:pic>
      <p:sp>
        <p:nvSpPr>
          <p:cNvPr id="11" name="Text 7"/>
          <p:cNvSpPr/>
          <p:nvPr/>
        </p:nvSpPr>
        <p:spPr>
          <a:xfrm>
            <a:off x="1481328" y="3017520"/>
            <a:ext cx="2834640" cy="274320"/>
          </a:xfrm>
          <a:prstGeom prst="rect">
            <a:avLst/>
          </a:prstGeom>
          <a:noFill/>
        </p:spPr>
        <p:txBody>
          <a:bodyPr wrap="square" lIns="0" tIns="0" rIns="0" bIns="0" rtlCol="0" anchor="ctr"/>
          <a:lstStyle/>
          <a:p>
            <a:pPr marL="0" indent="0">
              <a:buNone/>
            </a:pPr>
            <a:r>
              <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rPr>
              <a:t>Efficient</a:t>
            </a:r>
            <a:endParaRPr lang="en-US" dirty="0"/>
          </a:p>
        </p:txBody>
      </p:sp>
      <p:sp>
        <p:nvSpPr>
          <p:cNvPr id="12" name="Text 8"/>
          <p:cNvSpPr/>
          <p:nvPr/>
        </p:nvSpPr>
        <p:spPr>
          <a:xfrm>
            <a:off x="1481328" y="3282696"/>
            <a:ext cx="2834640" cy="320040"/>
          </a:xfrm>
          <a:prstGeom prst="rect">
            <a:avLst/>
          </a:prstGeom>
          <a:noFill/>
        </p:spPr>
        <p:txBody>
          <a:bodyPr wrap="square" lIns="0" tIns="0" rIns="0" bIns="0" rtlCol="0" anchor="ctr"/>
          <a:lstStyle/>
          <a:p>
            <a:pPr marL="0" indent="0">
              <a:buNone/>
            </a:pPr>
            <a:endParaRPr lang="en-US" dirty="0">
              <a:solidFill>
                <a:srgbClr val="CADCFC"/>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r>
              <a:rPr lang="en-US" dirty="0">
                <a:solidFill>
                  <a:srgbClr val="CADCFC"/>
                </a:solidFill>
                <a:latin typeface="Calibri" panose="020F0502020204030204" pitchFamily="34" charset="0"/>
                <a:ea typeface="Calibri" panose="020F0502020204030204" pitchFamily="34" charset="-122"/>
                <a:cs typeface="Calibri" panose="020F0502020204030204" pitchFamily="34" charset="-120"/>
              </a:rPr>
              <a:t>Minimal computation per symbol</a:t>
            </a:r>
            <a:endParaRPr lang="en-US" dirty="0"/>
          </a:p>
        </p:txBody>
      </p:sp>
      <p:sp>
        <p:nvSpPr>
          <p:cNvPr id="13" name="Shape 9"/>
          <p:cNvSpPr/>
          <p:nvPr/>
        </p:nvSpPr>
        <p:spPr>
          <a:xfrm>
            <a:off x="822960" y="3931920"/>
            <a:ext cx="502920" cy="502920"/>
          </a:xfrm>
          <a:prstGeom prst="ellipse">
            <a:avLst/>
          </a:prstGeom>
          <a:solidFill>
            <a:srgbClr val="E8F0FE"/>
          </a:solidFill>
        </p:spPr>
      </p:sp>
      <p:pic>
        <p:nvPicPr>
          <p:cNvPr id="14" name="Image 2" descr="icons/puzzle_navy.png"/>
          <p:cNvPicPr>
            <a:picLocks noChangeAspect="1"/>
          </p:cNvPicPr>
          <p:nvPr/>
        </p:nvPicPr>
        <p:blipFill>
          <a:blip r:embed="rId5"/>
          <a:stretch>
            <a:fillRect/>
          </a:stretch>
        </p:blipFill>
        <p:spPr>
          <a:xfrm>
            <a:off x="936117" y="4045077"/>
            <a:ext cx="276606" cy="276606"/>
          </a:xfrm>
          <a:prstGeom prst="rect">
            <a:avLst/>
          </a:prstGeom>
        </p:spPr>
      </p:pic>
      <p:sp>
        <p:nvSpPr>
          <p:cNvPr id="15" name="Text 10"/>
          <p:cNvSpPr/>
          <p:nvPr/>
        </p:nvSpPr>
        <p:spPr>
          <a:xfrm>
            <a:off x="1481328" y="3931920"/>
            <a:ext cx="2834640" cy="274320"/>
          </a:xfrm>
          <a:prstGeom prst="rect">
            <a:avLst/>
          </a:prstGeom>
          <a:noFill/>
        </p:spPr>
        <p:txBody>
          <a:bodyPr wrap="square" lIns="0" tIns="0" rIns="0" bIns="0" rtlCol="0" anchor="ctr"/>
          <a:lstStyle/>
          <a:p>
            <a:pPr marL="0" indent="0">
              <a:buNone/>
            </a:pPr>
            <a:r>
              <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rPr>
              <a:t>Easy to Implement</a:t>
            </a:r>
            <a:endParaRPr lang="en-US" dirty="0"/>
          </a:p>
        </p:txBody>
      </p:sp>
      <p:sp>
        <p:nvSpPr>
          <p:cNvPr id="16" name="Text 11"/>
          <p:cNvSpPr/>
          <p:nvPr/>
        </p:nvSpPr>
        <p:spPr>
          <a:xfrm>
            <a:off x="1481328" y="4197096"/>
            <a:ext cx="2834640" cy="320040"/>
          </a:xfrm>
          <a:prstGeom prst="rect">
            <a:avLst/>
          </a:prstGeom>
          <a:noFill/>
        </p:spPr>
        <p:txBody>
          <a:bodyPr wrap="square" lIns="0" tIns="0" rIns="0" bIns="0" rtlCol="0" anchor="ctr"/>
          <a:lstStyle/>
          <a:p>
            <a:pPr marL="0" indent="0">
              <a:buNone/>
            </a:pPr>
            <a:endParaRPr lang="en-US" dirty="0">
              <a:solidFill>
                <a:srgbClr val="CADCFC"/>
              </a:solidFill>
              <a:latin typeface="Calibri" panose="020F0502020204030204" pitchFamily="34" charset="0"/>
              <a:ea typeface="Calibri" panose="020F0502020204030204" pitchFamily="34" charset="-122"/>
              <a:cs typeface="Calibri" panose="020F0502020204030204" pitchFamily="34" charset="-120"/>
            </a:endParaRPr>
          </a:p>
          <a:p>
            <a:pPr marL="0" indent="0">
              <a:buNone/>
            </a:pPr>
            <a:r>
              <a:rPr lang="en-US" dirty="0">
                <a:solidFill>
                  <a:srgbClr val="CADCFC"/>
                </a:solidFill>
                <a:latin typeface="Calibri" panose="020F0502020204030204" pitchFamily="34" charset="0"/>
                <a:ea typeface="Calibri" panose="020F0502020204030204" pitchFamily="34" charset="-122"/>
                <a:cs typeface="Calibri" panose="020F0502020204030204" pitchFamily="34" charset="-120"/>
              </a:rPr>
              <a:t>Simple rules, simple code</a:t>
            </a:r>
            <a:endParaRPr lang="en-US" dirty="0"/>
          </a:p>
        </p:txBody>
      </p:sp>
      <p:sp>
        <p:nvSpPr>
          <p:cNvPr id="17" name="Shape 12"/>
          <p:cNvSpPr/>
          <p:nvPr/>
        </p:nvSpPr>
        <p:spPr>
          <a:xfrm>
            <a:off x="822960" y="4846320"/>
            <a:ext cx="502920" cy="502920"/>
          </a:xfrm>
          <a:prstGeom prst="ellipse">
            <a:avLst/>
          </a:prstGeom>
          <a:solidFill>
            <a:srgbClr val="E8F0FE"/>
          </a:solidFill>
        </p:spPr>
      </p:sp>
      <p:pic>
        <p:nvPicPr>
          <p:cNvPr id="18" name="Image 3" descr="icons/memory_navy.png"/>
          <p:cNvPicPr>
            <a:picLocks noChangeAspect="1"/>
          </p:cNvPicPr>
          <p:nvPr/>
        </p:nvPicPr>
        <p:blipFill>
          <a:blip r:embed="rId6"/>
          <a:stretch>
            <a:fillRect/>
          </a:stretch>
        </p:blipFill>
        <p:spPr>
          <a:xfrm>
            <a:off x="936117" y="4959477"/>
            <a:ext cx="276606" cy="276606"/>
          </a:xfrm>
          <a:prstGeom prst="rect">
            <a:avLst/>
          </a:prstGeom>
        </p:spPr>
      </p:pic>
      <p:sp>
        <p:nvSpPr>
          <p:cNvPr id="19" name="Text 13"/>
          <p:cNvSpPr/>
          <p:nvPr/>
        </p:nvSpPr>
        <p:spPr>
          <a:xfrm>
            <a:off x="1481328" y="4846320"/>
            <a:ext cx="2834640" cy="274320"/>
          </a:xfrm>
          <a:prstGeom prst="rect">
            <a:avLst/>
          </a:prstGeom>
          <a:noFill/>
        </p:spPr>
        <p:txBody>
          <a:bodyPr wrap="square" lIns="0" tIns="0" rIns="0" bIns="0" rtlCol="0" anchor="ctr"/>
          <a:lstStyle/>
          <a:p>
            <a:pPr marL="0" indent="0">
              <a:buNone/>
            </a:pPr>
            <a:r>
              <a:rPr lang="en-US" b="1" dirty="0">
                <a:solidFill>
                  <a:srgbClr val="FFFFFF"/>
                </a:solidFill>
                <a:latin typeface="Calibri" panose="020F0502020204030204" pitchFamily="34" charset="0"/>
                <a:ea typeface="Calibri" panose="020F0502020204030204" pitchFamily="34" charset="-122"/>
                <a:cs typeface="Calibri" panose="020F0502020204030204" pitchFamily="34" charset="-120"/>
              </a:rPr>
              <a:t>Low Memory</a:t>
            </a:r>
            <a:endParaRPr lang="en-US" dirty="0"/>
          </a:p>
        </p:txBody>
      </p:sp>
      <p:sp>
        <p:nvSpPr>
          <p:cNvPr id="20" name="Text 14"/>
          <p:cNvSpPr/>
          <p:nvPr/>
        </p:nvSpPr>
        <p:spPr>
          <a:xfrm>
            <a:off x="1481328" y="5111496"/>
            <a:ext cx="2834640" cy="320040"/>
          </a:xfrm>
          <a:prstGeom prst="rect">
            <a:avLst/>
          </a:prstGeom>
          <a:noFill/>
        </p:spPr>
        <p:txBody>
          <a:bodyPr wrap="square" lIns="0" tIns="0" rIns="0" bIns="0" rtlCol="0" anchor="ctr"/>
          <a:lstStyle/>
          <a:p>
            <a:pPr marL="0" indent="0">
              <a:buNone/>
            </a:pPr>
            <a:r>
              <a:rPr lang="en-US" dirty="0">
                <a:solidFill>
                  <a:srgbClr val="CADCFC"/>
                </a:solidFill>
                <a:latin typeface="Calibri" panose="020F0502020204030204" pitchFamily="34" charset="0"/>
                <a:ea typeface="Calibri" panose="020F0502020204030204" pitchFamily="34" charset="-122"/>
                <a:cs typeface="Calibri" panose="020F0502020204030204" pitchFamily="34" charset="-120"/>
              </a:rPr>
              <a:t>Only current state is stored</a:t>
            </a:r>
            <a:endParaRPr lang="en-US" dirty="0"/>
          </a:p>
        </p:txBody>
      </p:sp>
      <p:sp>
        <p:nvSpPr>
          <p:cNvPr id="21" name="Text 15"/>
          <p:cNvSpPr/>
          <p:nvPr/>
        </p:nvSpPr>
        <p:spPr>
          <a:xfrm>
            <a:off x="4754880" y="1371600"/>
            <a:ext cx="3657600" cy="365760"/>
          </a:xfrm>
          <a:prstGeom prst="rect">
            <a:avLst/>
          </a:prstGeom>
          <a:noFill/>
        </p:spPr>
        <p:txBody>
          <a:bodyPr wrap="square" lIns="0" tIns="0" rIns="0" bIns="0" rtlCol="0" anchor="ctr"/>
          <a:lstStyle/>
          <a:p>
            <a:pPr marL="0" indent="0">
              <a:buNone/>
            </a:pPr>
            <a:r>
              <a:rPr lang="en-US" sz="1600" b="1" dirty="0">
                <a:solidFill>
                  <a:srgbClr val="1B2A4A"/>
                </a:solidFill>
                <a:latin typeface="Calibri" panose="020F0502020204030204" pitchFamily="34" charset="0"/>
                <a:ea typeface="Calibri" panose="020F0502020204030204" pitchFamily="34" charset="-122"/>
                <a:cs typeface="Calibri" panose="020F0502020204030204" pitchFamily="34" charset="-120"/>
              </a:rPr>
              <a:t>Applications</a:t>
            </a:r>
            <a:endParaRPr lang="en-US" sz="1600" dirty="0"/>
          </a:p>
        </p:txBody>
      </p:sp>
      <p:sp>
        <p:nvSpPr>
          <p:cNvPr id="22" name="Shape 16"/>
          <p:cNvSpPr/>
          <p:nvPr/>
        </p:nvSpPr>
        <p:spPr>
          <a:xfrm>
            <a:off x="4754880" y="1874520"/>
            <a:ext cx="2148840" cy="1417320"/>
          </a:xfrm>
          <a:prstGeom prst="roundRect">
            <a:avLst>
              <a:gd name="adj" fmla="val 6452"/>
            </a:avLst>
          </a:prstGeom>
          <a:solidFill>
            <a:srgbClr val="E8F0FE"/>
          </a:solidFill>
        </p:spPr>
      </p:sp>
      <p:sp>
        <p:nvSpPr>
          <p:cNvPr id="23" name="Shape 17"/>
          <p:cNvSpPr/>
          <p:nvPr/>
        </p:nvSpPr>
        <p:spPr>
          <a:xfrm>
            <a:off x="5577840" y="2075688"/>
            <a:ext cx="502920" cy="502920"/>
          </a:xfrm>
          <a:prstGeom prst="ellipse">
            <a:avLst/>
          </a:prstGeom>
          <a:solidFill>
            <a:srgbClr val="2F6FED"/>
          </a:solidFill>
        </p:spPr>
      </p:sp>
      <p:pic>
        <p:nvPicPr>
          <p:cNvPr id="24" name="Image 4" descr="icons/chip_white.png"/>
          <p:cNvPicPr>
            <a:picLocks noChangeAspect="1"/>
          </p:cNvPicPr>
          <p:nvPr/>
        </p:nvPicPr>
        <p:blipFill>
          <a:blip r:embed="rId7"/>
          <a:stretch>
            <a:fillRect/>
          </a:stretch>
        </p:blipFill>
        <p:spPr>
          <a:xfrm>
            <a:off x="5690997" y="2188845"/>
            <a:ext cx="276606" cy="276606"/>
          </a:xfrm>
          <a:prstGeom prst="rect">
            <a:avLst/>
          </a:prstGeom>
        </p:spPr>
      </p:pic>
      <p:sp>
        <p:nvSpPr>
          <p:cNvPr id="25" name="Text 18"/>
          <p:cNvSpPr/>
          <p:nvPr/>
        </p:nvSpPr>
        <p:spPr>
          <a:xfrm>
            <a:off x="4846320" y="2743200"/>
            <a:ext cx="1965960" cy="457200"/>
          </a:xfrm>
          <a:prstGeom prst="rect">
            <a:avLst/>
          </a:prstGeom>
          <a:noFill/>
        </p:spPr>
        <p:txBody>
          <a:bodyPr wrap="square" lIns="0" tIns="0" rIns="0" bIns="0" rtlCol="0" anchor="ctr"/>
          <a:lstStyle/>
          <a:p>
            <a:pPr marL="0" indent="0" algn="ctr">
              <a:lnSpc>
                <a:spcPct val="105000"/>
              </a:lnSpc>
              <a:buNone/>
            </a:pPr>
            <a:r>
              <a:rPr lang="en-US" b="1" dirty="0">
                <a:solidFill>
                  <a:srgbClr val="1B2A4A"/>
                </a:solidFill>
                <a:latin typeface="Calibri" panose="020F0502020204030204" pitchFamily="34" charset="0"/>
                <a:ea typeface="Calibri" panose="020F0502020204030204" pitchFamily="34" charset="-122"/>
                <a:cs typeface="Calibri" panose="020F0502020204030204" pitchFamily="34" charset="-120"/>
              </a:rPr>
              <a:t>Compiler Design</a:t>
            </a:r>
            <a:endParaRPr lang="en-US" dirty="0"/>
          </a:p>
        </p:txBody>
      </p:sp>
      <p:sp>
        <p:nvSpPr>
          <p:cNvPr id="26" name="Shape 19"/>
          <p:cNvSpPr/>
          <p:nvPr/>
        </p:nvSpPr>
        <p:spPr>
          <a:xfrm>
            <a:off x="7086600" y="1874520"/>
            <a:ext cx="2148840" cy="1417320"/>
          </a:xfrm>
          <a:prstGeom prst="roundRect">
            <a:avLst>
              <a:gd name="adj" fmla="val 6452"/>
            </a:avLst>
          </a:prstGeom>
          <a:solidFill>
            <a:srgbClr val="E8F0FE"/>
          </a:solidFill>
        </p:spPr>
      </p:sp>
      <p:sp>
        <p:nvSpPr>
          <p:cNvPr id="27" name="Shape 20"/>
          <p:cNvSpPr/>
          <p:nvPr/>
        </p:nvSpPr>
        <p:spPr>
          <a:xfrm>
            <a:off x="7909560" y="2075688"/>
            <a:ext cx="502920" cy="502920"/>
          </a:xfrm>
          <a:prstGeom prst="ellipse">
            <a:avLst/>
          </a:prstGeom>
          <a:solidFill>
            <a:srgbClr val="2F6FED"/>
          </a:solidFill>
        </p:spPr>
      </p:sp>
      <p:pic>
        <p:nvPicPr>
          <p:cNvPr id="28" name="Image 5" descr="icons/code_white.png"/>
          <p:cNvPicPr>
            <a:picLocks noChangeAspect="1"/>
          </p:cNvPicPr>
          <p:nvPr/>
        </p:nvPicPr>
        <p:blipFill>
          <a:blip r:embed="rId8"/>
          <a:stretch>
            <a:fillRect/>
          </a:stretch>
        </p:blipFill>
        <p:spPr>
          <a:xfrm>
            <a:off x="8022717" y="2188845"/>
            <a:ext cx="276606" cy="276606"/>
          </a:xfrm>
          <a:prstGeom prst="rect">
            <a:avLst/>
          </a:prstGeom>
        </p:spPr>
      </p:pic>
      <p:sp>
        <p:nvSpPr>
          <p:cNvPr id="29" name="Text 21"/>
          <p:cNvSpPr/>
          <p:nvPr/>
        </p:nvSpPr>
        <p:spPr>
          <a:xfrm>
            <a:off x="7178040" y="2743200"/>
            <a:ext cx="1965960" cy="457200"/>
          </a:xfrm>
          <a:prstGeom prst="rect">
            <a:avLst/>
          </a:prstGeom>
          <a:noFill/>
        </p:spPr>
        <p:txBody>
          <a:bodyPr wrap="square" lIns="0" tIns="0" rIns="0" bIns="0" rtlCol="0" anchor="ctr"/>
          <a:lstStyle/>
          <a:p>
            <a:pPr marL="0" indent="0" algn="ctr">
              <a:lnSpc>
                <a:spcPct val="105000"/>
              </a:lnSpc>
              <a:buNone/>
            </a:pPr>
            <a:r>
              <a:rPr lang="en-US" b="1" dirty="0">
                <a:solidFill>
                  <a:srgbClr val="1B2A4A"/>
                </a:solidFill>
                <a:latin typeface="Calibri" panose="020F0502020204030204" pitchFamily="34" charset="0"/>
                <a:ea typeface="Calibri" panose="020F0502020204030204" pitchFamily="34" charset="-122"/>
                <a:cs typeface="Calibri" panose="020F0502020204030204" pitchFamily="34" charset="-120"/>
              </a:rPr>
              <a:t>Syntax Highlighting</a:t>
            </a:r>
            <a:endParaRPr lang="en-US" dirty="0"/>
          </a:p>
        </p:txBody>
      </p:sp>
      <p:sp>
        <p:nvSpPr>
          <p:cNvPr id="30" name="Shape 22"/>
          <p:cNvSpPr/>
          <p:nvPr/>
        </p:nvSpPr>
        <p:spPr>
          <a:xfrm>
            <a:off x="9418320" y="1874520"/>
            <a:ext cx="2148840" cy="1417320"/>
          </a:xfrm>
          <a:prstGeom prst="roundRect">
            <a:avLst>
              <a:gd name="adj" fmla="val 6452"/>
            </a:avLst>
          </a:prstGeom>
          <a:solidFill>
            <a:srgbClr val="E8F0FE"/>
          </a:solidFill>
        </p:spPr>
      </p:sp>
      <p:sp>
        <p:nvSpPr>
          <p:cNvPr id="31" name="Shape 23"/>
          <p:cNvSpPr/>
          <p:nvPr/>
        </p:nvSpPr>
        <p:spPr>
          <a:xfrm>
            <a:off x="10241280" y="2075688"/>
            <a:ext cx="502920" cy="502920"/>
          </a:xfrm>
          <a:prstGeom prst="ellipse">
            <a:avLst/>
          </a:prstGeom>
          <a:solidFill>
            <a:srgbClr val="2F6FED"/>
          </a:solidFill>
        </p:spPr>
      </p:sp>
      <p:pic>
        <p:nvPicPr>
          <p:cNvPr id="32" name="Image 6" descr="icons/file_white.png"/>
          <p:cNvPicPr>
            <a:picLocks noChangeAspect="1"/>
          </p:cNvPicPr>
          <p:nvPr/>
        </p:nvPicPr>
        <p:blipFill>
          <a:blip r:embed="rId9"/>
          <a:stretch>
            <a:fillRect/>
          </a:stretch>
        </p:blipFill>
        <p:spPr>
          <a:xfrm>
            <a:off x="10354437" y="2188845"/>
            <a:ext cx="276606" cy="276606"/>
          </a:xfrm>
          <a:prstGeom prst="rect">
            <a:avLst/>
          </a:prstGeom>
        </p:spPr>
      </p:pic>
      <p:sp>
        <p:nvSpPr>
          <p:cNvPr id="33" name="Text 24"/>
          <p:cNvSpPr/>
          <p:nvPr/>
        </p:nvSpPr>
        <p:spPr>
          <a:xfrm>
            <a:off x="9509760" y="2743200"/>
            <a:ext cx="1965960" cy="457200"/>
          </a:xfrm>
          <a:prstGeom prst="rect">
            <a:avLst/>
          </a:prstGeom>
          <a:noFill/>
        </p:spPr>
        <p:txBody>
          <a:bodyPr wrap="square" lIns="0" tIns="0" rIns="0" bIns="0" rtlCol="0" anchor="ctr"/>
          <a:lstStyle/>
          <a:p>
            <a:pPr marL="0" indent="0" algn="ctr">
              <a:lnSpc>
                <a:spcPct val="105000"/>
              </a:lnSpc>
              <a:buNone/>
            </a:pPr>
            <a:r>
              <a:rPr lang="en-US" b="1" dirty="0">
                <a:solidFill>
                  <a:srgbClr val="1B2A4A"/>
                </a:solidFill>
                <a:latin typeface="Calibri" panose="020F0502020204030204" pitchFamily="34" charset="0"/>
                <a:ea typeface="Calibri" panose="020F0502020204030204" pitchFamily="34" charset="-122"/>
                <a:cs typeface="Calibri" panose="020F0502020204030204" pitchFamily="34" charset="-120"/>
              </a:rPr>
              <a:t>Text Editors</a:t>
            </a:r>
            <a:endParaRPr lang="en-US" dirty="0"/>
          </a:p>
        </p:txBody>
      </p:sp>
      <p:sp>
        <p:nvSpPr>
          <p:cNvPr id="34" name="Shape 25"/>
          <p:cNvSpPr/>
          <p:nvPr/>
        </p:nvSpPr>
        <p:spPr>
          <a:xfrm>
            <a:off x="4754880" y="3474720"/>
            <a:ext cx="2148840" cy="1417320"/>
          </a:xfrm>
          <a:prstGeom prst="roundRect">
            <a:avLst>
              <a:gd name="adj" fmla="val 6452"/>
            </a:avLst>
          </a:prstGeom>
          <a:solidFill>
            <a:srgbClr val="E8F0FE"/>
          </a:solidFill>
        </p:spPr>
      </p:sp>
      <p:sp>
        <p:nvSpPr>
          <p:cNvPr id="35" name="Shape 26"/>
          <p:cNvSpPr/>
          <p:nvPr/>
        </p:nvSpPr>
        <p:spPr>
          <a:xfrm>
            <a:off x="5577840" y="3675888"/>
            <a:ext cx="502920" cy="502920"/>
          </a:xfrm>
          <a:prstGeom prst="ellipse">
            <a:avLst/>
          </a:prstGeom>
          <a:solidFill>
            <a:srgbClr val="2F6FED"/>
          </a:solidFill>
        </p:spPr>
      </p:sp>
      <p:pic>
        <p:nvPicPr>
          <p:cNvPr id="36" name="Image 7" descr="icons/search_white.png"/>
          <p:cNvPicPr>
            <a:picLocks noChangeAspect="1"/>
          </p:cNvPicPr>
          <p:nvPr/>
        </p:nvPicPr>
        <p:blipFill>
          <a:blip r:embed="rId10"/>
          <a:stretch>
            <a:fillRect/>
          </a:stretch>
        </p:blipFill>
        <p:spPr>
          <a:xfrm>
            <a:off x="5690997" y="3789045"/>
            <a:ext cx="276606" cy="276606"/>
          </a:xfrm>
          <a:prstGeom prst="rect">
            <a:avLst/>
          </a:prstGeom>
        </p:spPr>
      </p:pic>
      <p:sp>
        <p:nvSpPr>
          <p:cNvPr id="37" name="Text 27"/>
          <p:cNvSpPr/>
          <p:nvPr/>
        </p:nvSpPr>
        <p:spPr>
          <a:xfrm>
            <a:off x="4846320" y="4343400"/>
            <a:ext cx="1965960" cy="457200"/>
          </a:xfrm>
          <a:prstGeom prst="rect">
            <a:avLst/>
          </a:prstGeom>
          <a:noFill/>
        </p:spPr>
        <p:txBody>
          <a:bodyPr wrap="square" lIns="0" tIns="0" rIns="0" bIns="0" rtlCol="0" anchor="ctr"/>
          <a:lstStyle/>
          <a:p>
            <a:pPr marL="0" indent="0" algn="ctr">
              <a:lnSpc>
                <a:spcPct val="105000"/>
              </a:lnSpc>
              <a:buNone/>
            </a:pPr>
            <a:r>
              <a:rPr lang="en-US" b="1" dirty="0">
                <a:solidFill>
                  <a:srgbClr val="1B2A4A"/>
                </a:solidFill>
                <a:latin typeface="Calibri" panose="020F0502020204030204" pitchFamily="34" charset="0"/>
                <a:ea typeface="Calibri" panose="020F0502020204030204" pitchFamily="34" charset="-122"/>
                <a:cs typeface="Calibri" panose="020F0502020204030204" pitchFamily="34" charset="-120"/>
              </a:rPr>
              <a:t>Search Engines</a:t>
            </a:r>
            <a:endParaRPr lang="en-US" dirty="0"/>
          </a:p>
        </p:txBody>
      </p:sp>
      <p:sp>
        <p:nvSpPr>
          <p:cNvPr id="38" name="Shape 28"/>
          <p:cNvSpPr/>
          <p:nvPr/>
        </p:nvSpPr>
        <p:spPr>
          <a:xfrm>
            <a:off x="7086600" y="3474720"/>
            <a:ext cx="2148840" cy="1417320"/>
          </a:xfrm>
          <a:prstGeom prst="roundRect">
            <a:avLst>
              <a:gd name="adj" fmla="val 6452"/>
            </a:avLst>
          </a:prstGeom>
          <a:solidFill>
            <a:srgbClr val="E8F0FE"/>
          </a:solidFill>
        </p:spPr>
      </p:sp>
      <p:sp>
        <p:nvSpPr>
          <p:cNvPr id="39" name="Shape 29"/>
          <p:cNvSpPr/>
          <p:nvPr/>
        </p:nvSpPr>
        <p:spPr>
          <a:xfrm>
            <a:off x="7909560" y="3675888"/>
            <a:ext cx="502920" cy="502920"/>
          </a:xfrm>
          <a:prstGeom prst="ellipse">
            <a:avLst/>
          </a:prstGeom>
          <a:solidFill>
            <a:srgbClr val="2F6FED"/>
          </a:solidFill>
        </p:spPr>
      </p:sp>
      <p:pic>
        <p:nvPicPr>
          <p:cNvPr id="40" name="Image 8" descr="icons/diagram_white.png"/>
          <p:cNvPicPr>
            <a:picLocks noChangeAspect="1"/>
          </p:cNvPicPr>
          <p:nvPr/>
        </p:nvPicPr>
        <p:blipFill>
          <a:blip r:embed="rId11"/>
          <a:stretch>
            <a:fillRect/>
          </a:stretch>
        </p:blipFill>
        <p:spPr>
          <a:xfrm>
            <a:off x="8022717" y="3789045"/>
            <a:ext cx="276606" cy="276606"/>
          </a:xfrm>
          <a:prstGeom prst="rect">
            <a:avLst/>
          </a:prstGeom>
        </p:spPr>
      </p:pic>
      <p:sp>
        <p:nvSpPr>
          <p:cNvPr id="41" name="Text 30"/>
          <p:cNvSpPr/>
          <p:nvPr/>
        </p:nvSpPr>
        <p:spPr>
          <a:xfrm>
            <a:off x="7178040" y="4343400"/>
            <a:ext cx="1965960" cy="457200"/>
          </a:xfrm>
          <a:prstGeom prst="rect">
            <a:avLst/>
          </a:prstGeom>
          <a:noFill/>
        </p:spPr>
        <p:txBody>
          <a:bodyPr wrap="square" lIns="0" tIns="0" rIns="0" bIns="0" rtlCol="0" anchor="ctr"/>
          <a:lstStyle/>
          <a:p>
            <a:pPr marL="0" indent="0" algn="ctr">
              <a:lnSpc>
                <a:spcPct val="105000"/>
              </a:lnSpc>
              <a:buNone/>
            </a:pPr>
            <a:r>
              <a:rPr lang="en-US" b="1" dirty="0">
                <a:solidFill>
                  <a:srgbClr val="1B2A4A"/>
                </a:solidFill>
                <a:latin typeface="Calibri" panose="020F0502020204030204" pitchFamily="34" charset="0"/>
                <a:ea typeface="Calibri" panose="020F0502020204030204" pitchFamily="34" charset="-122"/>
                <a:cs typeface="Calibri" panose="020F0502020204030204" pitchFamily="34" charset="-120"/>
              </a:rPr>
              <a:t>Pattern Matching</a:t>
            </a:r>
            <a:endParaRPr lang="en-US" dirty="0"/>
          </a:p>
        </p:txBody>
      </p:sp>
      <p:sp>
        <p:nvSpPr>
          <p:cNvPr id="42" name="Text 31"/>
          <p:cNvSpPr/>
          <p:nvPr/>
        </p:nvSpPr>
        <p:spPr>
          <a:xfrm>
            <a:off x="457200" y="6510528"/>
            <a:ext cx="7315200" cy="274320"/>
          </a:xfrm>
          <a:prstGeom prst="rect">
            <a:avLst/>
          </a:prstGeom>
          <a:noFill/>
        </p:spPr>
        <p:txBody>
          <a:bodyPr wrap="square" lIns="0" tIns="0" rIns="0" bIns="0" rtlCol="0" anchor="ctr"/>
          <a:lstStyle/>
          <a:p>
            <a:pPr marL="0" indent="0" algn="l">
              <a:buNone/>
            </a:pPr>
            <a:r>
              <a:rPr lang="en-US" sz="900" dirty="0">
                <a:solidFill>
                  <a:srgbClr val="5B6B8C"/>
                </a:solidFill>
                <a:latin typeface="Calibri" panose="020F0502020204030204" pitchFamily="34" charset="0"/>
                <a:ea typeface="Calibri" panose="020F0502020204030204" pitchFamily="34" charset="-122"/>
                <a:cs typeface="Calibri" panose="020F0502020204030204" pitchFamily="34" charset="-120"/>
              </a:rPr>
              <a:t>Building a Finite State Automaton for Token Recognition</a:t>
            </a:r>
            <a:endParaRPr lang="en-US" sz="900" dirty="0"/>
          </a:p>
        </p:txBody>
      </p:sp>
      <p:sp>
        <p:nvSpPr>
          <p:cNvPr id="43" name="Text 32"/>
          <p:cNvSpPr/>
          <p:nvPr/>
        </p:nvSpPr>
        <p:spPr>
          <a:xfrm>
            <a:off x="11247120" y="6510528"/>
            <a:ext cx="457200" cy="274320"/>
          </a:xfrm>
          <a:prstGeom prst="rect">
            <a:avLst/>
          </a:prstGeom>
          <a:noFill/>
        </p:spPr>
        <p:txBody>
          <a:bodyPr wrap="square" lIns="0" tIns="0" rIns="0" bIns="0" rtlCol="0" anchor="ctr"/>
          <a:lstStyle/>
          <a:p>
            <a:pPr marL="0" indent="0" algn="r">
              <a:buNone/>
            </a:pPr>
            <a:r>
              <a:rPr lang="en-US" sz="900" dirty="0">
                <a:solidFill>
                  <a:srgbClr val="5B6B8C"/>
                </a:solidFill>
                <a:latin typeface="Calibri" panose="020F0502020204030204" pitchFamily="34" charset="0"/>
                <a:ea typeface="Calibri" panose="020F0502020204030204" pitchFamily="34" charset="-122"/>
                <a:cs typeface="Calibri" panose="020F0502020204030204"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640080"/>
          </a:xfrm>
          <a:prstGeom prst="rect">
            <a:avLst/>
          </a:prstGeom>
          <a:noFill/>
        </p:spPr>
        <p:txBody>
          <a:bodyPr wrap="square" lIns="0" tIns="0" rIns="0" bIns="0" rtlCol="0" anchor="ctr"/>
          <a:lstStyle/>
          <a:p>
            <a:pPr marL="0" indent="0">
              <a:buNone/>
            </a:pPr>
            <a:r>
              <a:rPr lang="en-US" sz="3200" b="1" dirty="0">
                <a:solidFill>
                  <a:srgbClr val="1B2A4A"/>
                </a:solidFill>
                <a:latin typeface="Cambria" panose="02040503050406030204" pitchFamily="34" charset="0"/>
                <a:ea typeface="Cambria" panose="02040503050406030204" pitchFamily="34" charset="-122"/>
                <a:cs typeface="Cambria" panose="02040503050406030204" pitchFamily="34" charset="-120"/>
              </a:rPr>
              <a:t>Summary</a:t>
            </a:r>
            <a:endParaRPr lang="en-US" sz="3200" dirty="0"/>
          </a:p>
        </p:txBody>
      </p:sp>
      <p:sp>
        <p:nvSpPr>
          <p:cNvPr id="3" name="Shape 1"/>
          <p:cNvSpPr/>
          <p:nvPr/>
        </p:nvSpPr>
        <p:spPr>
          <a:xfrm>
            <a:off x="548640" y="1508760"/>
            <a:ext cx="502920" cy="502920"/>
          </a:xfrm>
          <a:prstGeom prst="ellipse">
            <a:avLst/>
          </a:prstGeom>
          <a:solidFill>
            <a:srgbClr val="2F6FED"/>
          </a:solidFill>
        </p:spPr>
      </p:sp>
      <p:pic>
        <p:nvPicPr>
          <p:cNvPr id="4" name="Image 0" descr="icons/chip_white.png"/>
          <p:cNvPicPr>
            <a:picLocks noChangeAspect="1"/>
          </p:cNvPicPr>
          <p:nvPr/>
        </p:nvPicPr>
        <p:blipFill>
          <a:blip r:embed="rId3"/>
          <a:stretch>
            <a:fillRect/>
          </a:stretch>
        </p:blipFill>
        <p:spPr>
          <a:xfrm>
            <a:off x="661797" y="1621917"/>
            <a:ext cx="276606" cy="276606"/>
          </a:xfrm>
          <a:prstGeom prst="rect">
            <a:avLst/>
          </a:prstGeom>
        </p:spPr>
      </p:pic>
      <p:sp>
        <p:nvSpPr>
          <p:cNvPr id="5" name="Text 2"/>
          <p:cNvSpPr/>
          <p:nvPr/>
        </p:nvSpPr>
        <p:spPr>
          <a:xfrm>
            <a:off x="1234440" y="1554480"/>
            <a:ext cx="5212080" cy="457200"/>
          </a:xfrm>
          <a:prstGeom prst="rect">
            <a:avLst/>
          </a:prstGeom>
          <a:noFill/>
        </p:spPr>
        <p:txBody>
          <a:bodyPr wrap="square" lIns="0" tIns="0" rIns="0" bIns="0" rtlCol="0" anchor="ctr"/>
          <a:lstStyle/>
          <a:p>
            <a:pPr marL="0" indent="0">
              <a:buNone/>
            </a:pPr>
            <a:r>
              <a:rPr lang="en-US" dirty="0">
                <a:solidFill>
                  <a:srgbClr val="1B2A4A"/>
                </a:solidFill>
                <a:latin typeface="Calibri" panose="020F0502020204030204" pitchFamily="34" charset="0"/>
                <a:ea typeface="Calibri" panose="020F0502020204030204" pitchFamily="34" charset="-122"/>
                <a:cs typeface="Calibri" panose="020F0502020204030204" pitchFamily="34" charset="-120"/>
              </a:rPr>
              <a:t>FSA is the foundation of lexical analysis.</a:t>
            </a:r>
            <a:endParaRPr lang="en-US" dirty="0"/>
          </a:p>
        </p:txBody>
      </p:sp>
      <p:sp>
        <p:nvSpPr>
          <p:cNvPr id="6" name="Shape 3"/>
          <p:cNvSpPr/>
          <p:nvPr/>
        </p:nvSpPr>
        <p:spPr>
          <a:xfrm>
            <a:off x="548640" y="2286000"/>
            <a:ext cx="502920" cy="502920"/>
          </a:xfrm>
          <a:prstGeom prst="ellipse">
            <a:avLst/>
          </a:prstGeom>
          <a:solidFill>
            <a:srgbClr val="2F6FED"/>
          </a:solidFill>
        </p:spPr>
      </p:sp>
      <p:pic>
        <p:nvPicPr>
          <p:cNvPr id="7" name="Image 1" descr="icons/check_white.png"/>
          <p:cNvPicPr>
            <a:picLocks noChangeAspect="1"/>
          </p:cNvPicPr>
          <p:nvPr/>
        </p:nvPicPr>
        <p:blipFill>
          <a:blip r:embed="rId4"/>
          <a:stretch>
            <a:fillRect/>
          </a:stretch>
        </p:blipFill>
        <p:spPr>
          <a:xfrm>
            <a:off x="661797" y="2399157"/>
            <a:ext cx="276606" cy="276606"/>
          </a:xfrm>
          <a:prstGeom prst="rect">
            <a:avLst/>
          </a:prstGeom>
        </p:spPr>
      </p:pic>
      <p:sp>
        <p:nvSpPr>
          <p:cNvPr id="8" name="Text 4"/>
          <p:cNvSpPr/>
          <p:nvPr/>
        </p:nvSpPr>
        <p:spPr>
          <a:xfrm>
            <a:off x="1234440" y="2331720"/>
            <a:ext cx="5212080" cy="457200"/>
          </a:xfrm>
          <a:prstGeom prst="rect">
            <a:avLst/>
          </a:prstGeom>
          <a:noFill/>
        </p:spPr>
        <p:txBody>
          <a:bodyPr wrap="square" lIns="0" tIns="0" rIns="0" bIns="0" rtlCol="0" anchor="ctr"/>
          <a:lstStyle/>
          <a:p>
            <a:pPr marL="0" indent="0">
              <a:buNone/>
            </a:pPr>
            <a:r>
              <a:rPr lang="en-US" dirty="0">
                <a:solidFill>
                  <a:srgbClr val="1B2A4A"/>
                </a:solidFill>
                <a:latin typeface="Calibri" panose="020F0502020204030204" pitchFamily="34" charset="0"/>
                <a:ea typeface="Calibri" panose="020F0502020204030204" pitchFamily="34" charset="-122"/>
                <a:cs typeface="Calibri" panose="020F0502020204030204" pitchFamily="34" charset="-120"/>
              </a:rPr>
              <a:t>It recognizes valid tokens accurately.</a:t>
            </a:r>
            <a:endParaRPr lang="en-US" dirty="0"/>
          </a:p>
        </p:txBody>
      </p:sp>
      <p:sp>
        <p:nvSpPr>
          <p:cNvPr id="9" name="Shape 5"/>
          <p:cNvSpPr/>
          <p:nvPr/>
        </p:nvSpPr>
        <p:spPr>
          <a:xfrm>
            <a:off x="548640" y="3063240"/>
            <a:ext cx="502920" cy="502920"/>
          </a:xfrm>
          <a:prstGeom prst="ellipse">
            <a:avLst/>
          </a:prstGeom>
          <a:solidFill>
            <a:srgbClr val="2F6FED"/>
          </a:solidFill>
        </p:spPr>
      </p:sp>
      <p:pic>
        <p:nvPicPr>
          <p:cNvPr id="10" name="Image 2" descr="icons/bolt_white.png"/>
          <p:cNvPicPr>
            <a:picLocks noChangeAspect="1"/>
          </p:cNvPicPr>
          <p:nvPr/>
        </p:nvPicPr>
        <p:blipFill>
          <a:blip r:embed="rId5"/>
          <a:stretch>
            <a:fillRect/>
          </a:stretch>
        </p:blipFill>
        <p:spPr>
          <a:xfrm>
            <a:off x="661797" y="3176397"/>
            <a:ext cx="276606" cy="276606"/>
          </a:xfrm>
          <a:prstGeom prst="rect">
            <a:avLst/>
          </a:prstGeom>
        </p:spPr>
      </p:pic>
      <p:sp>
        <p:nvSpPr>
          <p:cNvPr id="11" name="Text 6"/>
          <p:cNvSpPr/>
          <p:nvPr/>
        </p:nvSpPr>
        <p:spPr>
          <a:xfrm>
            <a:off x="1234440" y="3108960"/>
            <a:ext cx="5212080" cy="457200"/>
          </a:xfrm>
          <a:prstGeom prst="rect">
            <a:avLst/>
          </a:prstGeom>
          <a:noFill/>
        </p:spPr>
        <p:txBody>
          <a:bodyPr wrap="square" lIns="0" tIns="0" rIns="0" bIns="0" rtlCol="0" anchor="ctr"/>
          <a:lstStyle/>
          <a:p>
            <a:pPr marL="0" indent="0">
              <a:buNone/>
            </a:pPr>
            <a:r>
              <a:rPr lang="en-US" dirty="0">
                <a:solidFill>
                  <a:srgbClr val="1B2A4A"/>
                </a:solidFill>
                <a:latin typeface="Calibri" panose="020F0502020204030204" pitchFamily="34" charset="0"/>
                <a:ea typeface="Calibri" panose="020F0502020204030204" pitchFamily="34" charset="-122"/>
                <a:cs typeface="Calibri" panose="020F0502020204030204" pitchFamily="34" charset="-120"/>
              </a:rPr>
              <a:t>It makes compilers faster and reliable.</a:t>
            </a:r>
            <a:endParaRPr lang="en-US" dirty="0"/>
          </a:p>
        </p:txBody>
      </p:sp>
      <p:sp>
        <p:nvSpPr>
          <p:cNvPr id="12" name="Shape 7"/>
          <p:cNvSpPr/>
          <p:nvPr/>
        </p:nvSpPr>
        <p:spPr>
          <a:xfrm>
            <a:off x="548640" y="3840480"/>
            <a:ext cx="502920" cy="502920"/>
          </a:xfrm>
          <a:prstGeom prst="ellipse">
            <a:avLst/>
          </a:prstGeom>
          <a:solidFill>
            <a:srgbClr val="2F6FED"/>
          </a:solidFill>
        </p:spPr>
      </p:sp>
      <p:pic>
        <p:nvPicPr>
          <p:cNvPr id="13" name="Image 3" descr="icons/puzzle_white.png"/>
          <p:cNvPicPr>
            <a:picLocks noChangeAspect="1"/>
          </p:cNvPicPr>
          <p:nvPr/>
        </p:nvPicPr>
        <p:blipFill>
          <a:blip r:embed="rId6"/>
          <a:stretch>
            <a:fillRect/>
          </a:stretch>
        </p:blipFill>
        <p:spPr>
          <a:xfrm>
            <a:off x="661797" y="3953637"/>
            <a:ext cx="276606" cy="276606"/>
          </a:xfrm>
          <a:prstGeom prst="rect">
            <a:avLst/>
          </a:prstGeom>
        </p:spPr>
      </p:pic>
      <p:sp>
        <p:nvSpPr>
          <p:cNvPr id="14" name="Text 8"/>
          <p:cNvSpPr/>
          <p:nvPr/>
        </p:nvSpPr>
        <p:spPr>
          <a:xfrm>
            <a:off x="1234440" y="3886200"/>
            <a:ext cx="5212080" cy="457200"/>
          </a:xfrm>
          <a:prstGeom prst="rect">
            <a:avLst/>
          </a:prstGeom>
          <a:noFill/>
        </p:spPr>
        <p:txBody>
          <a:bodyPr wrap="square" lIns="0" tIns="0" rIns="0" bIns="0" rtlCol="0" anchor="ctr"/>
          <a:lstStyle/>
          <a:p>
            <a:pPr marL="0" indent="0">
              <a:buNone/>
            </a:pPr>
            <a:r>
              <a:rPr lang="en-US" dirty="0">
                <a:solidFill>
                  <a:srgbClr val="1B2A4A"/>
                </a:solidFill>
                <a:latin typeface="Calibri" panose="020F0502020204030204" pitchFamily="34" charset="0"/>
                <a:ea typeface="Calibri" panose="020F0502020204030204" pitchFamily="34" charset="-122"/>
                <a:cs typeface="Calibri" panose="020F0502020204030204" pitchFamily="34" charset="-120"/>
              </a:rPr>
              <a:t>It powers many everyday software applications.</a:t>
            </a:r>
            <a:endParaRPr lang="en-US" dirty="0"/>
          </a:p>
        </p:txBody>
      </p:sp>
      <p:sp>
        <p:nvSpPr>
          <p:cNvPr id="15" name="Shape 9"/>
          <p:cNvSpPr/>
          <p:nvPr/>
        </p:nvSpPr>
        <p:spPr>
          <a:xfrm>
            <a:off x="6675120" y="1508760"/>
            <a:ext cx="4937760" cy="4206240"/>
          </a:xfrm>
          <a:prstGeom prst="roundRect">
            <a:avLst>
              <a:gd name="adj" fmla="val 2609"/>
            </a:avLst>
          </a:prstGeom>
          <a:solidFill>
            <a:srgbClr val="1B2A4A"/>
          </a:solidFill>
        </p:spPr>
      </p:sp>
      <p:sp>
        <p:nvSpPr>
          <p:cNvPr id="16" name="Shape 10"/>
          <p:cNvSpPr/>
          <p:nvPr/>
        </p:nvSpPr>
        <p:spPr>
          <a:xfrm>
            <a:off x="6949440" y="1783080"/>
            <a:ext cx="548640" cy="548640"/>
          </a:xfrm>
          <a:prstGeom prst="ellipse">
            <a:avLst/>
          </a:prstGeom>
          <a:solidFill>
            <a:srgbClr val="2F6FED"/>
          </a:solidFill>
        </p:spPr>
      </p:sp>
      <p:pic>
        <p:nvPicPr>
          <p:cNvPr id="17" name="Image 4" descr="icons/bulb_navy.png"/>
          <p:cNvPicPr>
            <a:picLocks noChangeAspect="1"/>
          </p:cNvPicPr>
          <p:nvPr/>
        </p:nvPicPr>
        <p:blipFill>
          <a:blip r:embed="rId7"/>
          <a:stretch>
            <a:fillRect/>
          </a:stretch>
        </p:blipFill>
        <p:spPr>
          <a:xfrm>
            <a:off x="7072884" y="1906524"/>
            <a:ext cx="301752" cy="301752"/>
          </a:xfrm>
          <a:prstGeom prst="rect">
            <a:avLst/>
          </a:prstGeom>
        </p:spPr>
      </p:pic>
      <p:sp>
        <p:nvSpPr>
          <p:cNvPr id="18" name="Text 11"/>
          <p:cNvSpPr/>
          <p:nvPr/>
        </p:nvSpPr>
        <p:spPr>
          <a:xfrm>
            <a:off x="7635240" y="1874520"/>
            <a:ext cx="3657600" cy="365760"/>
          </a:xfrm>
          <a:prstGeom prst="rect">
            <a:avLst/>
          </a:prstGeom>
          <a:noFill/>
        </p:spPr>
        <p:txBody>
          <a:bodyPr wrap="square" lIns="0" tIns="0" rIns="0" bIns="0" rtlCol="0" anchor="ctr"/>
          <a:lstStyle/>
          <a:p>
            <a:pPr marL="0" indent="0">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Key Takeaways</a:t>
            </a:r>
            <a:endParaRPr lang="en-US" sz="1600" dirty="0"/>
          </a:p>
        </p:txBody>
      </p:sp>
      <p:sp>
        <p:nvSpPr>
          <p:cNvPr id="19" name="Shape 12"/>
          <p:cNvSpPr/>
          <p:nvPr/>
        </p:nvSpPr>
        <p:spPr>
          <a:xfrm>
            <a:off x="6949440" y="2587752"/>
            <a:ext cx="82296" cy="82296"/>
          </a:xfrm>
          <a:prstGeom prst="ellipse">
            <a:avLst/>
          </a:prstGeom>
          <a:solidFill>
            <a:srgbClr val="2F6FED"/>
          </a:solidFill>
        </p:spPr>
      </p:sp>
      <p:sp>
        <p:nvSpPr>
          <p:cNvPr id="20" name="Text 13"/>
          <p:cNvSpPr/>
          <p:nvPr/>
        </p:nvSpPr>
        <p:spPr>
          <a:xfrm>
            <a:off x="7150608" y="2459736"/>
            <a:ext cx="4206240" cy="502920"/>
          </a:xfrm>
          <a:prstGeom prst="rect">
            <a:avLst/>
          </a:prstGeom>
          <a:noFill/>
        </p:spPr>
        <p:txBody>
          <a:bodyPr wrap="square" lIns="0" tIns="0" rIns="0" bIns="0" rtlCol="0" anchor="ctr"/>
          <a:lstStyle/>
          <a:p>
            <a:pPr marL="0" indent="0">
              <a:lnSpc>
                <a:spcPct val="110000"/>
              </a:lnSpc>
              <a:buNone/>
            </a:pPr>
            <a:r>
              <a:rPr lang="en-US" dirty="0">
                <a:solidFill>
                  <a:srgbClr val="CADCFC"/>
                </a:solidFill>
                <a:latin typeface="Calibri" panose="020F0502020204030204" pitchFamily="34" charset="0"/>
                <a:ea typeface="Calibri" panose="020F0502020204030204" pitchFamily="34" charset="-122"/>
                <a:cs typeface="Calibri" panose="020F0502020204030204" pitchFamily="34" charset="-120"/>
              </a:rPr>
              <a:t>States + transitions = compact rule engine</a:t>
            </a:r>
            <a:endParaRPr lang="en-US" dirty="0"/>
          </a:p>
        </p:txBody>
      </p:sp>
      <p:sp>
        <p:nvSpPr>
          <p:cNvPr id="21" name="Shape 14"/>
          <p:cNvSpPr/>
          <p:nvPr/>
        </p:nvSpPr>
        <p:spPr>
          <a:xfrm>
            <a:off x="6949440" y="3246120"/>
            <a:ext cx="82296" cy="82296"/>
          </a:xfrm>
          <a:prstGeom prst="ellipse">
            <a:avLst/>
          </a:prstGeom>
          <a:solidFill>
            <a:srgbClr val="2F6FED"/>
          </a:solidFill>
        </p:spPr>
      </p:sp>
      <p:sp>
        <p:nvSpPr>
          <p:cNvPr id="22" name="Text 15"/>
          <p:cNvSpPr/>
          <p:nvPr/>
        </p:nvSpPr>
        <p:spPr>
          <a:xfrm>
            <a:off x="7150608" y="3118104"/>
            <a:ext cx="4206240" cy="502920"/>
          </a:xfrm>
          <a:prstGeom prst="rect">
            <a:avLst/>
          </a:prstGeom>
          <a:noFill/>
        </p:spPr>
        <p:txBody>
          <a:bodyPr wrap="square" lIns="0" tIns="0" rIns="0" bIns="0" rtlCol="0" anchor="ctr"/>
          <a:lstStyle/>
          <a:p>
            <a:pPr marL="0" indent="0">
              <a:lnSpc>
                <a:spcPct val="110000"/>
              </a:lnSpc>
              <a:buNone/>
            </a:pPr>
            <a:r>
              <a:rPr lang="en-US" dirty="0">
                <a:solidFill>
                  <a:srgbClr val="CADCFC"/>
                </a:solidFill>
                <a:latin typeface="Calibri" panose="020F0502020204030204" pitchFamily="34" charset="0"/>
                <a:ea typeface="Calibri" panose="020F0502020204030204" pitchFamily="34" charset="-122"/>
                <a:cs typeface="Calibri" panose="020F0502020204030204" pitchFamily="34" charset="-120"/>
              </a:rPr>
              <a:t>Accepting state means "valid token found"</a:t>
            </a:r>
            <a:endParaRPr lang="en-US" dirty="0"/>
          </a:p>
        </p:txBody>
      </p:sp>
      <p:sp>
        <p:nvSpPr>
          <p:cNvPr id="23" name="Shape 16"/>
          <p:cNvSpPr/>
          <p:nvPr/>
        </p:nvSpPr>
        <p:spPr>
          <a:xfrm>
            <a:off x="6949440" y="3904488"/>
            <a:ext cx="82296" cy="82296"/>
          </a:xfrm>
          <a:prstGeom prst="ellipse">
            <a:avLst/>
          </a:prstGeom>
          <a:solidFill>
            <a:srgbClr val="2F6FED"/>
          </a:solidFill>
        </p:spPr>
      </p:sp>
      <p:sp>
        <p:nvSpPr>
          <p:cNvPr id="24" name="Text 17"/>
          <p:cNvSpPr/>
          <p:nvPr/>
        </p:nvSpPr>
        <p:spPr>
          <a:xfrm>
            <a:off x="7150608" y="3776472"/>
            <a:ext cx="4206240" cy="502920"/>
          </a:xfrm>
          <a:prstGeom prst="rect">
            <a:avLst/>
          </a:prstGeom>
          <a:noFill/>
        </p:spPr>
        <p:txBody>
          <a:bodyPr wrap="square" lIns="0" tIns="0" rIns="0" bIns="0" rtlCol="0" anchor="ctr"/>
          <a:lstStyle/>
          <a:p>
            <a:pPr marL="0" indent="0">
              <a:lnSpc>
                <a:spcPct val="110000"/>
              </a:lnSpc>
              <a:buNone/>
            </a:pPr>
            <a:r>
              <a:rPr lang="en-US" dirty="0">
                <a:solidFill>
                  <a:srgbClr val="CADCFC"/>
                </a:solidFill>
                <a:latin typeface="Calibri" panose="020F0502020204030204" pitchFamily="34" charset="0"/>
                <a:ea typeface="Calibri" panose="020F0502020204030204" pitchFamily="34" charset="-122"/>
                <a:cs typeface="Calibri" panose="020F0502020204030204" pitchFamily="34" charset="-120"/>
              </a:rPr>
              <a:t>One pass, one character at a time</a:t>
            </a:r>
            <a:endParaRPr lang="en-US" dirty="0"/>
          </a:p>
        </p:txBody>
      </p:sp>
      <p:sp>
        <p:nvSpPr>
          <p:cNvPr id="25" name="Shape 18"/>
          <p:cNvSpPr/>
          <p:nvPr/>
        </p:nvSpPr>
        <p:spPr>
          <a:xfrm>
            <a:off x="6949440" y="4562856"/>
            <a:ext cx="82296" cy="82296"/>
          </a:xfrm>
          <a:prstGeom prst="ellipse">
            <a:avLst/>
          </a:prstGeom>
          <a:solidFill>
            <a:srgbClr val="2F6FED"/>
          </a:solidFill>
        </p:spPr>
      </p:sp>
      <p:sp>
        <p:nvSpPr>
          <p:cNvPr id="26" name="Text 19"/>
          <p:cNvSpPr/>
          <p:nvPr/>
        </p:nvSpPr>
        <p:spPr>
          <a:xfrm>
            <a:off x="7150608" y="4434840"/>
            <a:ext cx="4206240" cy="502920"/>
          </a:xfrm>
          <a:prstGeom prst="rect">
            <a:avLst/>
          </a:prstGeom>
          <a:noFill/>
        </p:spPr>
        <p:txBody>
          <a:bodyPr wrap="square" lIns="0" tIns="0" rIns="0" bIns="0" rtlCol="0" anchor="ctr"/>
          <a:lstStyle/>
          <a:p>
            <a:pPr marL="0" indent="0">
              <a:lnSpc>
                <a:spcPct val="110000"/>
              </a:lnSpc>
              <a:buNone/>
            </a:pPr>
            <a:r>
              <a:rPr lang="en-US" dirty="0">
                <a:solidFill>
                  <a:srgbClr val="CADCFC"/>
                </a:solidFill>
                <a:latin typeface="Calibri" panose="020F0502020204030204" pitchFamily="34" charset="0"/>
                <a:ea typeface="Calibri" panose="020F0502020204030204" pitchFamily="34" charset="-122"/>
                <a:cs typeface="Calibri" panose="020F0502020204030204" pitchFamily="34" charset="-120"/>
              </a:rPr>
              <a:t>Same idea scales to numbers, keywords, operators</a:t>
            </a:r>
            <a:endParaRPr lang="en-US" dirty="0"/>
          </a:p>
        </p:txBody>
      </p:sp>
      <p:sp>
        <p:nvSpPr>
          <p:cNvPr id="27" name="Text 20"/>
          <p:cNvSpPr/>
          <p:nvPr/>
        </p:nvSpPr>
        <p:spPr>
          <a:xfrm>
            <a:off x="457200" y="6510528"/>
            <a:ext cx="7315200" cy="274320"/>
          </a:xfrm>
          <a:prstGeom prst="rect">
            <a:avLst/>
          </a:prstGeom>
          <a:noFill/>
        </p:spPr>
        <p:txBody>
          <a:bodyPr wrap="square" lIns="0" tIns="0" rIns="0" bIns="0" rtlCol="0" anchor="ctr"/>
          <a:lstStyle/>
          <a:p>
            <a:pPr marL="0" indent="0" algn="l">
              <a:buNone/>
            </a:pPr>
            <a:r>
              <a:rPr lang="en-US" sz="900" dirty="0">
                <a:solidFill>
                  <a:srgbClr val="5B6B8C"/>
                </a:solidFill>
                <a:latin typeface="Calibri" panose="020F0502020204030204" pitchFamily="34" charset="0"/>
                <a:ea typeface="Calibri" panose="020F0502020204030204" pitchFamily="34" charset="-122"/>
                <a:cs typeface="Calibri" panose="020F0502020204030204" pitchFamily="34" charset="-120"/>
              </a:rPr>
              <a:t>Building a Finite State Automaton for Token Recognition</a:t>
            </a:r>
            <a:endParaRPr lang="en-US" sz="900" dirty="0"/>
          </a:p>
        </p:txBody>
      </p:sp>
      <p:sp>
        <p:nvSpPr>
          <p:cNvPr id="28" name="Text 21"/>
          <p:cNvSpPr/>
          <p:nvPr/>
        </p:nvSpPr>
        <p:spPr>
          <a:xfrm>
            <a:off x="11247120" y="6510528"/>
            <a:ext cx="457200" cy="274320"/>
          </a:xfrm>
          <a:prstGeom prst="rect">
            <a:avLst/>
          </a:prstGeom>
          <a:noFill/>
        </p:spPr>
        <p:txBody>
          <a:bodyPr wrap="square" lIns="0" tIns="0" rIns="0" bIns="0" rtlCol="0" anchor="ctr"/>
          <a:lstStyle/>
          <a:p>
            <a:pPr marL="0" indent="0" algn="r">
              <a:buNone/>
            </a:pPr>
            <a:r>
              <a:rPr lang="en-US" sz="900" dirty="0">
                <a:solidFill>
                  <a:srgbClr val="5B6B8C"/>
                </a:solidFill>
                <a:latin typeface="Calibri" panose="020F0502020204030204" pitchFamily="34" charset="0"/>
                <a:ea typeface="Calibri" panose="020F0502020204030204" pitchFamily="34" charset="-122"/>
                <a:cs typeface="Calibri" panose="020F0502020204030204"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0" y="1051560"/>
            <a:ext cx="1188720" cy="1188720"/>
          </a:xfrm>
          <a:prstGeom prst="ellipse">
            <a:avLst/>
          </a:prstGeom>
          <a:solidFill>
            <a:srgbClr val="E8F0FE"/>
          </a:solidFill>
        </p:spPr>
      </p:sp>
      <p:pic>
        <p:nvPicPr>
          <p:cNvPr id="3" name="Image 0" descr="icons/robot_blue.png"/>
          <p:cNvPicPr>
            <a:picLocks noChangeAspect="1"/>
          </p:cNvPicPr>
          <p:nvPr/>
        </p:nvPicPr>
        <p:blipFill>
          <a:blip r:embed="rId4"/>
          <a:stretch>
            <a:fillRect/>
          </a:stretch>
        </p:blipFill>
        <p:spPr>
          <a:xfrm>
            <a:off x="5753862" y="1319022"/>
            <a:ext cx="653796" cy="653796"/>
          </a:xfrm>
          <a:prstGeom prst="rect">
            <a:avLst/>
          </a:prstGeom>
        </p:spPr>
      </p:pic>
      <p:sp>
        <p:nvSpPr>
          <p:cNvPr id="4" name="Text 1"/>
          <p:cNvSpPr/>
          <p:nvPr/>
        </p:nvSpPr>
        <p:spPr>
          <a:xfrm>
            <a:off x="0" y="2468880"/>
            <a:ext cx="12161520" cy="1005840"/>
          </a:xfrm>
          <a:prstGeom prst="rect">
            <a:avLst/>
          </a:prstGeom>
          <a:noFill/>
        </p:spPr>
        <p:txBody>
          <a:bodyPr wrap="square" lIns="0" tIns="0" rIns="0" bIns="0" rtlCol="0" anchor="ctr"/>
          <a:lstStyle/>
          <a:p>
            <a:pPr marL="0" indent="0" algn="ctr">
              <a:buNone/>
            </a:pPr>
            <a:r>
              <a:rPr lang="en-US" sz="54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Thank You</a:t>
            </a:r>
            <a:endParaRPr lang="en-US" sz="5400" dirty="0"/>
          </a:p>
        </p:txBody>
      </p:sp>
      <p:sp>
        <p:nvSpPr>
          <p:cNvPr id="5" name="Shape 2"/>
          <p:cNvSpPr/>
          <p:nvPr/>
        </p:nvSpPr>
        <p:spPr>
          <a:xfrm>
            <a:off x="5760720" y="3611880"/>
            <a:ext cx="640080" cy="640080"/>
          </a:xfrm>
          <a:prstGeom prst="ellipse">
            <a:avLst/>
          </a:prstGeom>
          <a:solidFill>
            <a:srgbClr val="2F6FED"/>
          </a:solidFill>
        </p:spPr>
      </p:sp>
      <p:pic>
        <p:nvPicPr>
          <p:cNvPr id="6" name="Image 1" descr="icons/question_navy.png"/>
          <p:cNvPicPr>
            <a:picLocks noChangeAspect="1"/>
          </p:cNvPicPr>
          <p:nvPr/>
        </p:nvPicPr>
        <p:blipFill>
          <a:blip r:embed="rId5"/>
          <a:stretch>
            <a:fillRect/>
          </a:stretch>
        </p:blipFill>
        <p:spPr>
          <a:xfrm>
            <a:off x="5904738" y="3755898"/>
            <a:ext cx="352044" cy="352044"/>
          </a:xfrm>
          <a:prstGeom prst="rect">
            <a:avLst/>
          </a:prstGeom>
        </p:spPr>
      </p:pic>
      <p:sp>
        <p:nvSpPr>
          <p:cNvPr id="7" name="Text 3"/>
          <p:cNvSpPr/>
          <p:nvPr/>
        </p:nvSpPr>
        <p:spPr>
          <a:xfrm>
            <a:off x="0" y="4389120"/>
            <a:ext cx="12161520" cy="548640"/>
          </a:xfrm>
          <a:prstGeom prst="rect">
            <a:avLst/>
          </a:prstGeom>
          <a:noFill/>
        </p:spPr>
        <p:txBody>
          <a:bodyPr wrap="square" lIns="0" tIns="0" rIns="0" bIns="0" rtlCol="0" anchor="ctr"/>
          <a:lstStyle/>
          <a:p>
            <a:pPr marL="0" indent="0" algn="ctr">
              <a:buNone/>
            </a:pPr>
            <a:r>
              <a:rPr lang="en-US" sz="2000" i="1" dirty="0">
                <a:solidFill>
                  <a:srgbClr val="CADCFC"/>
                </a:solidFill>
                <a:latin typeface="Calibri" panose="020F0502020204030204" pitchFamily="34" charset="0"/>
                <a:ea typeface="Calibri" panose="020F0502020204030204" pitchFamily="34" charset="-122"/>
                <a:cs typeface="Calibri" panose="020F0502020204030204" pitchFamily="34" charset="-120"/>
              </a:rPr>
              <a:t>Questions?</a:t>
            </a:r>
            <a:endParaRPr lang="en-US" sz="2000" dirty="0"/>
          </a:p>
        </p:txBody>
      </p:sp>
      <p:sp>
        <p:nvSpPr>
          <p:cNvPr id="8" name="Text 4"/>
          <p:cNvSpPr/>
          <p:nvPr/>
        </p:nvSpPr>
        <p:spPr>
          <a:xfrm>
            <a:off x="457200" y="6510528"/>
            <a:ext cx="7315200" cy="274320"/>
          </a:xfrm>
          <a:prstGeom prst="rect">
            <a:avLst/>
          </a:prstGeom>
          <a:noFill/>
        </p:spPr>
        <p:txBody>
          <a:bodyPr wrap="square" lIns="0" tIns="0" rIns="0" bIns="0" rtlCol="0" anchor="ctr"/>
          <a:lstStyle/>
          <a:p>
            <a:pPr marL="0" indent="0" algn="l">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Building a Finite State Automaton for Token Recognition</a:t>
            </a:r>
            <a:endParaRPr lang="en-US" sz="900" dirty="0"/>
          </a:p>
        </p:txBody>
      </p:sp>
      <p:sp>
        <p:nvSpPr>
          <p:cNvPr id="9" name="Text 5"/>
          <p:cNvSpPr/>
          <p:nvPr/>
        </p:nvSpPr>
        <p:spPr>
          <a:xfrm>
            <a:off x="11247120" y="6510528"/>
            <a:ext cx="457200" cy="274320"/>
          </a:xfrm>
          <a:prstGeom prst="rect">
            <a:avLst/>
          </a:prstGeom>
          <a:noFill/>
        </p:spPr>
        <p:txBody>
          <a:bodyPr wrap="square" lIns="0" tIns="0" rIns="0" bIns="0" rtlCol="0" anchor="ctr"/>
          <a:lstStyle/>
          <a:p>
            <a:pPr marL="0" indent="0" algn="r">
              <a:buNone/>
            </a:pPr>
            <a:r>
              <a:rPr lang="en-US" sz="900" dirty="0">
                <a:solidFill>
                  <a:srgbClr val="CADCFC"/>
                </a:solidFill>
                <a:latin typeface="Calibri" panose="020F0502020204030204" pitchFamily="34" charset="0"/>
                <a:ea typeface="Calibri" panose="020F0502020204030204" pitchFamily="34" charset="-122"/>
                <a:cs typeface="Calibri" panose="020F0502020204030204"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826</Words>
  <Application>Microsoft Office PowerPoint</Application>
  <PresentationFormat>Widescreen</PresentationFormat>
  <Paragraphs>128</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Cambria</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Pranai Madam</cp:lastModifiedBy>
  <cp:revision>5</cp:revision>
  <dcterms:created xsi:type="dcterms:W3CDTF">2026-07-25T03:49:00Z</dcterms:created>
  <dcterms:modified xsi:type="dcterms:W3CDTF">2026-07-28T08:34:35Z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72D0E223E1604F8780CD579429A0F1A5_13</vt:lpwstr>
  </property>
</Properties>
</file>